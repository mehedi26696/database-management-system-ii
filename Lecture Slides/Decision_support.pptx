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6" r:id="rId7"/>
    <p:sldId id="264" r:id="rId8"/>
    <p:sldId id="282" r:id="rId9"/>
    <p:sldId id="283" r:id="rId10"/>
    <p:sldId id="284" r:id="rId11"/>
    <p:sldId id="285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7" r:id="rId26"/>
    <p:sldId id="288" r:id="rId27"/>
    <p:sldId id="286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4A19A-2B5F-47A5-8DD7-C789AB39A0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3D91D-6C83-4513-846E-8BFE984FE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25EAE8-5CD7-4D98-BB18-FB193684CF42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77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D36B-B23D-4F8E-A075-06D1DA4BA01C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2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B4B4-C0F5-410E-B59B-F1F180A9AA74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C3D1-C197-4A6D-8C2C-32CCA2F42FF0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2D27-43E8-4282-90E4-2591DF91A55E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3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7F37-9BBC-4A9A-A586-0A9D60132626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5199-055A-4E54-ABD0-5DB4126963D8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7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3D25-71B2-4AA2-A3FC-329C0A3F44DA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2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38592-673C-4B7D-B3A8-2DB37E441460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400A-3403-4F06-93D4-56B6F32E0050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604F-A561-41B4-A2F0-89FB08525D5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7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A3131-D985-4AB9-AA45-4AE6854F3CAC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12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85800"/>
            <a:ext cx="10390717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769600" cy="4495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</p:spPr>
        <p:txBody>
          <a:bodyPr/>
          <a:lstStyle>
            <a:lvl1pPr>
              <a:defRPr/>
            </a:lvl1pPr>
          </a:lstStyle>
          <a:p>
            <a:fld id="{16D5F92A-4BE4-423B-958C-BB6935A8B757}" type="datetime1">
              <a:rPr lang="en-US" altLang="en-US" smtClean="0"/>
              <a:t>12/29/2025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36B7779-3A6D-4FEC-AB0A-2C1667BA0E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22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3F5C-03E6-410A-A924-3FEF601D938B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AB06F-256E-4902-8825-8C05B695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2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efa821b6ba647cde&amp;q=Clustering&amp;sa=X&amp;ved=2ahUKEwimx6-gtOCRAxXgRmwGHe8iAUIQxccNegUIwAEQAQ&amp;mstk=AUtExfCF_Xr2R3TIA_7AsMLaqpfOE0nMcLfc1Z7bHlypPL79arJtADFsiV5_OC4OEpKgHZQdS7mvWUcvtNRD9xHQDrh8_zj26qE2hmYMffDNTduXiie-tDn52-2e1IN0ieAnDPIFvwTBRNdRqeD10MtS7gLNSlxLd6MF5HWEfNirRs7pK1-hJCoYH5QqpUGTgr1cqTab&amp;csui=3" TargetMode="External"/><Relationship Id="rId2" Type="http://schemas.openxmlformats.org/officeDocument/2006/relationships/hyperlink" Target="https://www.google.com/search?sca_esv=efa821b6ba647cde&amp;q=Classification&amp;sa=X&amp;ved=2ahUKEwimx6-gtOCRAxXgRmwGHe8iAUIQxccNegUIsQEQAQ&amp;mstk=AUtExfCF_Xr2R3TIA_7AsMLaqpfOE0nMcLfc1Z7bHlypPL79arJtADFsiV5_OC4OEpKgHZQdS7mvWUcvtNRD9xHQDrh8_zj26qE2hmYMffDNTduXiie-tDn52-2e1IN0ieAnDPIFvwTBRNdRqeD10MtS7gLNSlxLd6MF5HWEfNirRs7pK1-hJCoYH5QqpUGTgr1cqTab&amp;csui=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search?sca_esv=efa821b6ba647cde&amp;q=Regression&amp;sa=X&amp;ved=2ahUKEwimx6-gtOCRAxXgRmwGHe8iAUIQxccNegUIsAEQAQ&amp;mstk=AUtExfCF_Xr2R3TIA_7AsMLaqpfOE0nMcLfc1Z7bHlypPL79arJtADFsiV5_OC4OEpKgHZQdS7mvWUcvtNRD9xHQDrh8_zj26qE2hmYMffDNTduXiie-tDn52-2e1IN0ieAnDPIFvwTBRNdRqeD10MtS7gLNSlxLd6MF5HWEfNirRs7pK1-hJCoYH5QqpUGTgr1cqTab&amp;csui=3" TargetMode="External"/><Relationship Id="rId4" Type="http://schemas.openxmlformats.org/officeDocument/2006/relationships/hyperlink" Target="https://www.google.com/search?sca_esv=efa821b6ba647cde&amp;q=Association+Rule+Mining&amp;sa=X&amp;ved=2ahUKEwimx6-gtOCRAxXgRmwGHe8iAUIQxccNegUIrQEQAQ&amp;mstk=AUtExfCF_Xr2R3TIA_7AsMLaqpfOE0nMcLfc1Z7bHlypPL79arJtADFsiV5_OC4OEpKgHZQdS7mvWUcvtNRD9xHQDrh8_zj26qE2hmYMffDNTduXiie-tDn52-2e1IN0ieAnDPIFvwTBRNdRqeD10MtS7gLNSlxLd6MF5HWEfNirRs7pK1-hJCoYH5QqpUGTgr1cqTab&amp;csui=3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Decision Support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2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decision support system (DSS) is a computer program used to </a:t>
            </a:r>
            <a:r>
              <a:rPr lang="en-US" dirty="0">
                <a:solidFill>
                  <a:srgbClr val="FF0000"/>
                </a:solidFill>
              </a:rPr>
              <a:t>improve a company's decision-making capabilities</a:t>
            </a:r>
            <a:r>
              <a:rPr lang="en-US" dirty="0"/>
              <a:t>. It analyzes large amounts of data and presents an organization with the best possible options available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DSSes</a:t>
            </a:r>
            <a:r>
              <a:rPr lang="en-US" dirty="0" smtClean="0"/>
              <a:t> </a:t>
            </a:r>
            <a:r>
              <a:rPr lang="en-US" dirty="0"/>
              <a:t>bring together </a:t>
            </a:r>
            <a:r>
              <a:rPr lang="en-US" dirty="0">
                <a:solidFill>
                  <a:srgbClr val="FF0000"/>
                </a:solidFill>
              </a:rPr>
              <a:t>data and knowledge </a:t>
            </a:r>
            <a:r>
              <a:rPr lang="en-US" dirty="0"/>
              <a:t>from </a:t>
            </a:r>
            <a:r>
              <a:rPr lang="en-US" dirty="0">
                <a:solidFill>
                  <a:srgbClr val="FF0000"/>
                </a:solidFill>
              </a:rPr>
              <a:t>different areas and sources </a:t>
            </a:r>
            <a:r>
              <a:rPr lang="en-US" dirty="0"/>
              <a:t>to provide users with </a:t>
            </a:r>
            <a:r>
              <a:rPr lang="en-US" dirty="0">
                <a:solidFill>
                  <a:srgbClr val="FF0000"/>
                </a:solidFill>
              </a:rPr>
              <a:t>information beyond the usual</a:t>
            </a:r>
            <a:r>
              <a:rPr lang="en-US" dirty="0"/>
              <a:t> reports and summaries. This is intended to help organizations make </a:t>
            </a:r>
            <a:r>
              <a:rPr lang="en-US" dirty="0">
                <a:solidFill>
                  <a:srgbClr val="FF0000"/>
                </a:solidFill>
              </a:rPr>
              <a:t>informed decisions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9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decision support application might gather and present the following typical information: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Comparative sales </a:t>
            </a:r>
            <a:r>
              <a:rPr lang="en-US" dirty="0"/>
              <a:t>figures between one week and the next.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Projected revenue </a:t>
            </a:r>
            <a:r>
              <a:rPr lang="en-US" dirty="0"/>
              <a:t>figures based on new product sales assumptions.</a:t>
            </a:r>
          </a:p>
          <a:p>
            <a:pPr lvl="1"/>
            <a:r>
              <a:rPr lang="en-US" dirty="0"/>
              <a:t>The consequences of different decisions.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6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949" y="1825625"/>
            <a:ext cx="8308785" cy="494445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0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283187"/>
            <a:ext cx="5157787" cy="823912"/>
          </a:xfrm>
        </p:spPr>
        <p:txBody>
          <a:bodyPr/>
          <a:lstStyle/>
          <a:p>
            <a:pPr algn="ctr"/>
            <a:r>
              <a:rPr lang="en-US" dirty="0" smtClean="0"/>
              <a:t>Advantages of DSS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159855"/>
            <a:ext cx="5157787" cy="562780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Enable informed decision-making. </a:t>
            </a:r>
            <a:r>
              <a:rPr lang="en-US" dirty="0"/>
              <a:t>By taking multiple different data sources into account, </a:t>
            </a:r>
            <a:r>
              <a:rPr lang="en-US" dirty="0" err="1"/>
              <a:t>DSSes</a:t>
            </a:r>
            <a:r>
              <a:rPr lang="en-US" dirty="0"/>
              <a:t> can facilitate better, up-to-date and informed decisions.</a:t>
            </a:r>
          </a:p>
          <a:p>
            <a:r>
              <a:rPr lang="en-US" b="1" dirty="0"/>
              <a:t>Consider different outcomes.</a:t>
            </a:r>
            <a:r>
              <a:rPr lang="en-US" dirty="0"/>
              <a:t> </a:t>
            </a:r>
            <a:r>
              <a:rPr lang="en-US" dirty="0" err="1"/>
              <a:t>DSSes</a:t>
            </a:r>
            <a:r>
              <a:rPr lang="en-US" dirty="0"/>
              <a:t> consider different business outcomes, as possible decisions are based on current and historical company data.</a:t>
            </a:r>
          </a:p>
          <a:p>
            <a:r>
              <a:rPr lang="en-US" b="1" dirty="0"/>
              <a:t>Increase efficiency.</a:t>
            </a:r>
            <a:r>
              <a:rPr lang="en-US" dirty="0"/>
              <a:t> </a:t>
            </a:r>
            <a:r>
              <a:rPr lang="en-US" dirty="0" err="1"/>
              <a:t>DSSes</a:t>
            </a:r>
            <a:r>
              <a:rPr lang="en-US" dirty="0"/>
              <a:t> automate the analysis of large data sets.</a:t>
            </a:r>
          </a:p>
          <a:p>
            <a:r>
              <a:rPr lang="en-US" b="1" dirty="0"/>
              <a:t>Provide better collaboration.</a:t>
            </a:r>
            <a:r>
              <a:rPr lang="en-US" dirty="0"/>
              <a:t> DSS tools might also include communication and collaboration features.</a:t>
            </a:r>
          </a:p>
          <a:p>
            <a:r>
              <a:rPr lang="en-US" b="1" dirty="0"/>
              <a:t>Enable flexibility.</a:t>
            </a:r>
            <a:r>
              <a:rPr lang="en-US" dirty="0"/>
              <a:t> </a:t>
            </a:r>
            <a:r>
              <a:rPr lang="en-US" dirty="0" err="1"/>
              <a:t>DSSes</a:t>
            </a:r>
            <a:r>
              <a:rPr lang="en-US" dirty="0"/>
              <a:t> can be used by many different industries.</a:t>
            </a:r>
          </a:p>
          <a:p>
            <a:r>
              <a:rPr lang="en-US" b="1" dirty="0"/>
              <a:t>Handle complexity.</a:t>
            </a:r>
            <a:r>
              <a:rPr lang="en-US" dirty="0"/>
              <a:t> </a:t>
            </a:r>
            <a:r>
              <a:rPr lang="en-US" dirty="0" err="1"/>
              <a:t>DSSes</a:t>
            </a:r>
            <a:r>
              <a:rPr lang="en-US" dirty="0"/>
              <a:t> can handle complex problems that have multiple interdependencies and variables.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335943"/>
            <a:ext cx="5183188" cy="823912"/>
          </a:xfrm>
        </p:spPr>
        <p:txBody>
          <a:bodyPr/>
          <a:lstStyle/>
          <a:p>
            <a:pPr algn="ctr"/>
            <a:r>
              <a:rPr lang="en-US" dirty="0" smtClean="0"/>
              <a:t>Disadvantages of DSSS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59854"/>
            <a:ext cx="5183188" cy="562780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Cost.</a:t>
            </a:r>
            <a:r>
              <a:rPr lang="en-US" dirty="0"/>
              <a:t> Expenses for developing, implementing and maintaining </a:t>
            </a:r>
            <a:r>
              <a:rPr lang="en-US" dirty="0" err="1"/>
              <a:t>DSSes</a:t>
            </a:r>
            <a:r>
              <a:rPr lang="en-US" dirty="0"/>
              <a:t> can be high, which can limit their use by smaller organizations.</a:t>
            </a:r>
          </a:p>
          <a:p>
            <a:r>
              <a:rPr lang="en-US" b="1" dirty="0"/>
              <a:t>Dependence.</a:t>
            </a:r>
            <a:r>
              <a:rPr lang="en-US" dirty="0"/>
              <a:t> Developing an over-reliance on a DSS eventually takes away from the subjectivity involved in decision-making.</a:t>
            </a:r>
          </a:p>
          <a:p>
            <a:r>
              <a:rPr lang="en-US" b="1" dirty="0"/>
              <a:t>Complexity.</a:t>
            </a:r>
            <a:r>
              <a:rPr lang="en-US" dirty="0"/>
              <a:t> </a:t>
            </a:r>
            <a:r>
              <a:rPr lang="en-US" dirty="0" err="1"/>
              <a:t>DSSes</a:t>
            </a:r>
            <a:r>
              <a:rPr lang="en-US" dirty="0"/>
              <a:t> must consider all aspects of a given problem, which requires a lot of data. They can also be complex to design and implement.</a:t>
            </a:r>
          </a:p>
          <a:p>
            <a:r>
              <a:rPr lang="en-US" b="1" dirty="0"/>
              <a:t>Security.</a:t>
            </a:r>
            <a:r>
              <a:rPr lang="en-US" dirty="0"/>
              <a:t> Data that </a:t>
            </a:r>
            <a:r>
              <a:rPr lang="en-US" dirty="0" err="1"/>
              <a:t>DSSes</a:t>
            </a:r>
            <a:r>
              <a:rPr lang="en-US" dirty="0"/>
              <a:t> use might involve sensitive or critical data, meaning that an increased focus on security is required.</a:t>
            </a:r>
          </a:p>
          <a:p>
            <a:r>
              <a:rPr lang="en-US" b="1" dirty="0"/>
              <a:t>Employee resistance.</a:t>
            </a:r>
            <a:r>
              <a:rPr lang="en-US" dirty="0"/>
              <a:t> Some employees might be resistant to any workflow change based on the recommendations of a machine.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8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OLAP?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OLAP (Online Analytical Processing)</a:t>
            </a:r>
            <a:r>
              <a:rPr lang="en-US" dirty="0" smtClean="0"/>
              <a:t> is implemented in data warehouses to allow </a:t>
            </a:r>
            <a:r>
              <a:rPr lang="en-US" b="1" dirty="0" smtClean="0"/>
              <a:t>fast, multidimensional analysis</a:t>
            </a:r>
            <a:r>
              <a:rPr lang="en-US" dirty="0" smtClean="0"/>
              <a:t> of large datasets. Implementation includes the design, building, and deployment of OLAP cubes and related components.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0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71" y="910371"/>
            <a:ext cx="10348857" cy="503725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3" y="-110260"/>
            <a:ext cx="6488722" cy="670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8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08" y="1135181"/>
            <a:ext cx="11354784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2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9" y="1306646"/>
            <a:ext cx="12010161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995" y="712234"/>
            <a:ext cx="6348010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data warehouse?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3967"/>
          </a:xfrm>
        </p:spPr>
        <p:txBody>
          <a:bodyPr/>
          <a:lstStyle/>
          <a:p>
            <a:r>
              <a:rPr lang="en-US" altLang="en-US" sz="2400" dirty="0" smtClean="0"/>
              <a:t>Defined in many different ways, but not rigorously.</a:t>
            </a:r>
          </a:p>
          <a:p>
            <a:pPr lvl="1"/>
            <a:r>
              <a:rPr lang="en-US" altLang="en-US" dirty="0"/>
              <a:t>A decision support database that is maintained </a:t>
            </a:r>
            <a:r>
              <a:rPr lang="en-US" altLang="en-US" dirty="0">
                <a:solidFill>
                  <a:schemeClr val="hlink"/>
                </a:solidFill>
              </a:rPr>
              <a:t>separately </a:t>
            </a:r>
            <a:r>
              <a:rPr lang="en-US" altLang="en-US" dirty="0"/>
              <a:t>from the organization’s operational database</a:t>
            </a:r>
          </a:p>
          <a:p>
            <a:pPr lvl="1"/>
            <a:r>
              <a:rPr lang="en-US" altLang="en-US" dirty="0"/>
              <a:t>Support </a:t>
            </a:r>
            <a:r>
              <a:rPr lang="en-US" altLang="en-US" dirty="0">
                <a:solidFill>
                  <a:schemeClr val="hlink"/>
                </a:solidFill>
              </a:rPr>
              <a:t>information processing</a:t>
            </a:r>
            <a:r>
              <a:rPr lang="en-US" altLang="en-US" dirty="0"/>
              <a:t> by providing a solid platform of consolidated, historical data for analysis.</a:t>
            </a:r>
          </a:p>
          <a:p>
            <a:r>
              <a:rPr lang="en-US" altLang="en-US" sz="2400" dirty="0" smtClean="0">
                <a:solidFill>
                  <a:srgbClr val="157573"/>
                </a:solidFill>
              </a:rPr>
              <a:t>“A data warehouse is a</a:t>
            </a:r>
            <a:r>
              <a:rPr lang="en-US" altLang="en-US" sz="2400" dirty="0" smtClean="0"/>
              <a:t> </a:t>
            </a:r>
            <a:r>
              <a:rPr lang="en-US" altLang="en-US" sz="2400" u="sng" dirty="0" smtClean="0">
                <a:solidFill>
                  <a:schemeClr val="hlink"/>
                </a:solidFill>
              </a:rPr>
              <a:t>subject-oriented</a:t>
            </a:r>
            <a:r>
              <a:rPr lang="en-US" altLang="en-US" sz="2400" dirty="0" smtClean="0"/>
              <a:t>,</a:t>
            </a:r>
            <a:r>
              <a:rPr lang="en-US" altLang="en-US" sz="2400" u="sng" dirty="0" smtClean="0">
                <a:solidFill>
                  <a:schemeClr val="hlink"/>
                </a:solidFill>
              </a:rPr>
              <a:t> integrated</a:t>
            </a:r>
            <a:r>
              <a:rPr lang="en-US" altLang="en-US" sz="2400" dirty="0" smtClean="0"/>
              <a:t>, </a:t>
            </a:r>
            <a:r>
              <a:rPr lang="en-US" altLang="en-US" sz="2400" u="sng" dirty="0" smtClean="0">
                <a:solidFill>
                  <a:schemeClr val="hlink"/>
                </a:solidFill>
              </a:rPr>
              <a:t>time-variant</a:t>
            </a:r>
            <a:r>
              <a:rPr lang="en-US" altLang="en-US" sz="2400" dirty="0" smtClean="0"/>
              <a:t>, </a:t>
            </a:r>
            <a:r>
              <a:rPr lang="en-US" altLang="en-US" sz="2400" dirty="0" smtClean="0">
                <a:solidFill>
                  <a:srgbClr val="157573"/>
                </a:solidFill>
              </a:rPr>
              <a:t>and </a:t>
            </a:r>
            <a:r>
              <a:rPr lang="en-US" altLang="en-US" sz="2400" u="sng" dirty="0" smtClean="0">
                <a:solidFill>
                  <a:schemeClr val="hlink"/>
                </a:solidFill>
              </a:rPr>
              <a:t>nonvolatile</a:t>
            </a:r>
            <a:r>
              <a:rPr lang="en-US" altLang="en-US" sz="2400" dirty="0" smtClean="0"/>
              <a:t> </a:t>
            </a:r>
            <a:r>
              <a:rPr lang="en-US" altLang="en-US" sz="2400" dirty="0" smtClean="0">
                <a:solidFill>
                  <a:srgbClr val="157573"/>
                </a:solidFill>
              </a:rPr>
              <a:t>collection of data in support of management’s decision-making process.”—W. H. </a:t>
            </a:r>
            <a:r>
              <a:rPr lang="en-US" altLang="en-US" sz="2400" dirty="0" err="1" smtClean="0">
                <a:solidFill>
                  <a:srgbClr val="157573"/>
                </a:solidFill>
              </a:rPr>
              <a:t>Inmon</a:t>
            </a:r>
            <a:endParaRPr lang="en-US" altLang="en-US" sz="2400" dirty="0" smtClean="0">
              <a:solidFill>
                <a:srgbClr val="157573"/>
              </a:solidFill>
            </a:endParaRPr>
          </a:p>
          <a:p>
            <a:r>
              <a:rPr lang="en-US" altLang="en-US" sz="2400" dirty="0" smtClean="0"/>
              <a:t>Data warehousing:</a:t>
            </a:r>
          </a:p>
          <a:p>
            <a:pPr lvl="1"/>
            <a:r>
              <a:rPr lang="en-US" altLang="en-US" dirty="0"/>
              <a:t>The process of constructing and using data warehouses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6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Data Warehouse—Subject-Oriented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dirty="0"/>
              <a:t>Organized around major subjects, such as </a:t>
            </a:r>
            <a:r>
              <a:rPr lang="en-US" altLang="en-US" dirty="0">
                <a:solidFill>
                  <a:schemeClr val="hlink"/>
                </a:solidFill>
              </a:rPr>
              <a:t>customer, product, sales</a:t>
            </a:r>
            <a:r>
              <a:rPr lang="en-US" altLang="en-US" dirty="0"/>
              <a:t>.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Focusing on the modeling and analysis of data for decision makers, not on daily operations or transaction processing.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Provide </a:t>
            </a:r>
            <a:r>
              <a:rPr lang="en-US" altLang="en-US" dirty="0">
                <a:solidFill>
                  <a:schemeClr val="hlink"/>
                </a:solidFill>
              </a:rPr>
              <a:t>a simple and concise</a:t>
            </a:r>
            <a:r>
              <a:rPr lang="en-US" altLang="en-US" dirty="0"/>
              <a:t> view around particular subject issues by </a:t>
            </a:r>
            <a:r>
              <a:rPr lang="en-US" altLang="en-US" dirty="0">
                <a:solidFill>
                  <a:schemeClr val="hlink"/>
                </a:solidFill>
              </a:rPr>
              <a:t>excluding data that are not useful in the decision support process</a:t>
            </a:r>
            <a:r>
              <a:rPr lang="en-US" alt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9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60CD-121B-4436-B7E1-3EDC930F707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/>
              <a:t>Data Warehouse—Integrated</a:t>
            </a:r>
          </a:p>
        </p:txBody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752600"/>
            <a:ext cx="8077200" cy="4648200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Constructed by integrating multiple, heterogeneous data sources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relational databases, flat files, on-line transaction records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cleaning and data integration techniques are applied.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Ensure consistency in naming conventions, encoding structures, attribute measures, etc. among different data sources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E.g., Hotel price: currency, tax, breakfast covered, etc.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When data is moved to the warehouse, it is converted.  </a:t>
            </a:r>
          </a:p>
        </p:txBody>
      </p:sp>
    </p:spTree>
    <p:extLst>
      <p:ext uri="{BB962C8B-B14F-4D97-AF65-F5344CB8AC3E}">
        <p14:creationId xmlns:p14="http://schemas.microsoft.com/office/powerpoint/2010/main" val="326508462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98109-DA8E-49CD-972D-D7338EDA29A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/>
              <a:t>Data Warehouse—Time Variant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8382000" cy="4572000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/>
              <a:t>The time horizon for the data warehouse is significantly longer than that of operational systems.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Operational database: current value data.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Data warehouse data: provide information from a historical perspective (e.g., past 5-10 years)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Every key structure in the data warehouse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Contains an element of time, explicitly or implicitly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But the key of operational data may or may not contain “time element”.</a:t>
            </a:r>
          </a:p>
          <a:p>
            <a:pPr lvl="1">
              <a:lnSpc>
                <a:spcPct val="110000"/>
              </a:lnSpc>
            </a:pPr>
            <a:endParaRPr lang="en-US" altLang="en-US" sz="2200"/>
          </a:p>
        </p:txBody>
      </p:sp>
    </p:spTree>
    <p:extLst>
      <p:ext uri="{BB962C8B-B14F-4D97-AF65-F5344CB8AC3E}">
        <p14:creationId xmlns:p14="http://schemas.microsoft.com/office/powerpoint/2010/main" val="173288827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834B-F1D2-4739-80CE-5B057018130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98722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/>
              <a:t>Data Warehouse—Non-Volatile</a:t>
            </a:r>
          </a:p>
        </p:txBody>
      </p:sp>
      <p:sp>
        <p:nvSpPr>
          <p:cNvPr id="7987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8153400" cy="4419600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sz="2400"/>
              <a:t>A </a:t>
            </a:r>
            <a:r>
              <a:rPr lang="en-US" altLang="en-US" sz="2400">
                <a:solidFill>
                  <a:schemeClr val="hlink"/>
                </a:solidFill>
              </a:rPr>
              <a:t>physically separate store</a:t>
            </a:r>
            <a:r>
              <a:rPr lang="en-US" altLang="en-US" sz="2400"/>
              <a:t> of data transformed from the operational environment.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Operational </a:t>
            </a:r>
            <a:r>
              <a:rPr lang="en-US" altLang="en-US" sz="2400">
                <a:solidFill>
                  <a:schemeClr val="hlink"/>
                </a:solidFill>
              </a:rPr>
              <a:t>update of data does not occur</a:t>
            </a:r>
            <a:r>
              <a:rPr lang="en-US" altLang="en-US" sz="2400"/>
              <a:t> in the data warehouse environment.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Does not require transaction processing, recovery, and concurrency control mechanisms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Requires only two operations in data accessing: </a:t>
            </a:r>
          </a:p>
          <a:p>
            <a:pPr lvl="2">
              <a:lnSpc>
                <a:spcPct val="130000"/>
              </a:lnSpc>
            </a:pPr>
            <a:r>
              <a:rPr lang="en-US" altLang="en-US" i="1">
                <a:solidFill>
                  <a:schemeClr val="hlink"/>
                </a:solidFill>
              </a:rPr>
              <a:t>initial loading of data</a:t>
            </a:r>
            <a:r>
              <a:rPr lang="en-US" altLang="en-US"/>
              <a:t> and </a:t>
            </a:r>
            <a:r>
              <a:rPr lang="en-US" altLang="en-US" i="1">
                <a:solidFill>
                  <a:schemeClr val="hlink"/>
                </a:solidFill>
              </a:rPr>
              <a:t>access of data</a:t>
            </a:r>
            <a:r>
              <a:rPr lang="en-US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150540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0BB16-079F-4B54-9474-71C74387955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84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381000"/>
            <a:ext cx="8077200" cy="685800"/>
          </a:xfrm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sz="3200"/>
              <a:t>Data Warehouse vs. Heterogeneous DBMS</a:t>
            </a:r>
            <a:endParaRPr lang="en-US" altLang="en-US"/>
          </a:p>
        </p:txBody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752600"/>
            <a:ext cx="8401050" cy="4572000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/>
              <a:t>Traditional heterogeneous DB integration: 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Build </a:t>
            </a:r>
            <a:r>
              <a:rPr lang="en-US" altLang="en-US" sz="2000">
                <a:solidFill>
                  <a:schemeClr val="hlink"/>
                </a:solidFill>
              </a:rPr>
              <a:t>wrappers/mediators</a:t>
            </a:r>
            <a:r>
              <a:rPr lang="en-US" altLang="en-US" sz="2000"/>
              <a:t> on top of heterogeneous databases </a:t>
            </a:r>
          </a:p>
          <a:p>
            <a:pPr lvl="1">
              <a:lnSpc>
                <a:spcPct val="11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Query driven</a:t>
            </a:r>
            <a:r>
              <a:rPr lang="en-US" altLang="en-US" sz="2000"/>
              <a:t> approach</a:t>
            </a:r>
          </a:p>
          <a:p>
            <a:pPr lvl="2">
              <a:lnSpc>
                <a:spcPct val="110000"/>
              </a:lnSpc>
            </a:pPr>
            <a:r>
              <a:rPr lang="en-US" altLang="en-US"/>
              <a:t>When a query is posed to a client site, a meta-dictionary is used to translate the query into queries appropriate for individual heterogeneous sites involved, and the results are integrated into a global answer set</a:t>
            </a:r>
          </a:p>
          <a:p>
            <a:pPr lvl="2">
              <a:lnSpc>
                <a:spcPct val="110000"/>
              </a:lnSpc>
            </a:pPr>
            <a:r>
              <a:rPr lang="en-US" altLang="en-US"/>
              <a:t>Complex information filtering, compete for resources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Data warehouse: </a:t>
            </a:r>
            <a:r>
              <a:rPr lang="en-US" altLang="en-US" sz="2400">
                <a:solidFill>
                  <a:schemeClr val="hlink"/>
                </a:solidFill>
              </a:rPr>
              <a:t>update-driven</a:t>
            </a:r>
            <a:r>
              <a:rPr lang="en-US" altLang="en-US" sz="2400"/>
              <a:t>, high performance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Information from heterogeneous sources is integrated in advance and stored in warehouses for direct query and analysis</a:t>
            </a:r>
          </a:p>
        </p:txBody>
      </p:sp>
    </p:spTree>
    <p:extLst>
      <p:ext uri="{BB962C8B-B14F-4D97-AF65-F5344CB8AC3E}">
        <p14:creationId xmlns:p14="http://schemas.microsoft.com/office/powerpoint/2010/main" val="5635503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336C5-5A82-4FEC-9856-0BF5CD5B7279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457201"/>
            <a:ext cx="7793038" cy="727075"/>
          </a:xfrm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sz="3200" dirty="0"/>
              <a:t>Data Warehouse vs. Operational DBMS</a:t>
            </a:r>
            <a:endParaRPr lang="en-US" altLang="en-US" dirty="0"/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524000"/>
            <a:ext cx="8382000" cy="5181600"/>
          </a:xfrm>
          <a:noFill/>
          <a:ln/>
        </p:spPr>
        <p:txBody>
          <a:bodyPr vert="horz" lIns="92075" tIns="46038" rIns="92075" bIns="46038" rtlCol="0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en-US" sz="2000"/>
              <a:t>OLTP (on-line transaction processing)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Major task of traditional relational DBMS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Day-to-day operations: purchasing, inventory, banking, manufacturing, payroll, registration, accounting, etc.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OLAP (on-line analytical processing)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Major task of data warehouse system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Data analysis and decision making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Distinct features (OLTP vs. OLAP):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User and system orientation: customer vs. market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Data contents: current, detailed vs. historical, consolidated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Database design: ER + application vs. star + subject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View: current, local vs. evolutionary, integrated</a:t>
            </a:r>
          </a:p>
          <a:p>
            <a:pPr lvl="1">
              <a:lnSpc>
                <a:spcPct val="110000"/>
              </a:lnSpc>
            </a:pPr>
            <a:r>
              <a:rPr lang="en-US" altLang="en-US" sz="2000"/>
              <a:t>Access patterns: update vs. read-only but complex queries</a:t>
            </a:r>
          </a:p>
        </p:txBody>
      </p:sp>
    </p:spTree>
    <p:extLst>
      <p:ext uri="{BB962C8B-B14F-4D97-AF65-F5344CB8AC3E}">
        <p14:creationId xmlns:p14="http://schemas.microsoft.com/office/powerpoint/2010/main" val="124321317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C14F3-FB50-417C-BDD2-1C311B7F28E7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/>
              <a:t>OLTP vs. OLAP</a:t>
            </a:r>
          </a:p>
        </p:txBody>
      </p:sp>
      <p:graphicFrame>
        <p:nvGraphicFramePr>
          <p:cNvPr id="547843" name="Object 3"/>
          <p:cNvGraphicFramePr>
            <a:graphicFrameLocks noGrp="1"/>
          </p:cNvGraphicFramePr>
          <p:nvPr>
            <p:ph type="tbl" idx="1"/>
          </p:nvPr>
        </p:nvGraphicFramePr>
        <p:xfrm>
          <a:off x="2160589" y="1676400"/>
          <a:ext cx="7945437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Document" r:id="rId3" imgW="11172960" imgH="6858000" progId="Word.Document.8">
                  <p:embed/>
                </p:oleObj>
              </mc:Choice>
              <mc:Fallback>
                <p:oleObj name="Document" r:id="rId3" imgW="11172960" imgH="6858000" progId="Word.Document.8">
                  <p:embed/>
                  <p:pic>
                    <p:nvPicPr>
                      <p:cNvPr id="547843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9" y="1676400"/>
                        <a:ext cx="7945437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44" name="Line 4"/>
          <p:cNvSpPr>
            <a:spLocks noChangeShapeType="1"/>
          </p:cNvSpPr>
          <p:nvPr/>
        </p:nvSpPr>
        <p:spPr bwMode="auto">
          <a:xfrm flipH="1">
            <a:off x="2362200" y="1676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7845" name="Line 5"/>
          <p:cNvSpPr>
            <a:spLocks noChangeShapeType="1"/>
          </p:cNvSpPr>
          <p:nvPr/>
        </p:nvSpPr>
        <p:spPr bwMode="auto">
          <a:xfrm flipH="1">
            <a:off x="2209800" y="6400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7846" name="Line 6"/>
          <p:cNvSpPr>
            <a:spLocks noChangeShapeType="1"/>
          </p:cNvSpPr>
          <p:nvPr/>
        </p:nvSpPr>
        <p:spPr bwMode="auto">
          <a:xfrm>
            <a:off x="10134600" y="1676400"/>
            <a:ext cx="0" cy="464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7847" name="Line 7"/>
          <p:cNvSpPr>
            <a:spLocks noChangeShapeType="1"/>
          </p:cNvSpPr>
          <p:nvPr/>
        </p:nvSpPr>
        <p:spPr bwMode="auto">
          <a:xfrm>
            <a:off x="2209800" y="1676400"/>
            <a:ext cx="792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2616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ED9F6-3E2F-41C7-A1E5-A08C45D6580A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0077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667000" y="685800"/>
            <a:ext cx="7793038" cy="554038"/>
          </a:xfrm>
          <a:noFill/>
          <a:ln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/>
              <a:t>Why Separate Data Warehouse?</a:t>
            </a:r>
          </a:p>
        </p:txBody>
      </p:sp>
      <p:sp>
        <p:nvSpPr>
          <p:cNvPr id="80077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82000" cy="5105400"/>
          </a:xfrm>
          <a:noFill/>
          <a:ln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High performance for both systems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DBMS— tuned for OLTP: access methods, indexing, concurrency control, recovery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Warehouse—tuned for OLAP: complex OLAP queries, multidimensional view, consolidation.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Different functions and different data:</a:t>
            </a:r>
          </a:p>
          <a:p>
            <a:pPr lvl="1">
              <a:lnSpc>
                <a:spcPct val="90000"/>
              </a:lnSpc>
            </a:pPr>
            <a:r>
              <a:rPr lang="en-US" altLang="en-US" u="sng">
                <a:solidFill>
                  <a:schemeClr val="hlink"/>
                </a:solidFill>
              </a:rPr>
              <a:t>missing data</a:t>
            </a:r>
            <a:r>
              <a:rPr lang="en-US" altLang="en-US"/>
              <a:t>: Decision support requires historical data which operational DBs do not typically maintain</a:t>
            </a:r>
          </a:p>
          <a:p>
            <a:pPr lvl="1">
              <a:lnSpc>
                <a:spcPct val="90000"/>
              </a:lnSpc>
            </a:pPr>
            <a:r>
              <a:rPr lang="en-US" altLang="en-US" u="sng">
                <a:solidFill>
                  <a:schemeClr val="hlink"/>
                </a:solidFill>
              </a:rPr>
              <a:t>data consolidation</a:t>
            </a:r>
            <a:r>
              <a:rPr lang="en-US" altLang="en-US"/>
              <a:t>:  DS requires consolidation (aggregation, summarization) of data from heterogeneous sources</a:t>
            </a:r>
          </a:p>
          <a:p>
            <a:pPr lvl="1">
              <a:lnSpc>
                <a:spcPct val="90000"/>
              </a:lnSpc>
            </a:pPr>
            <a:r>
              <a:rPr lang="en-US" altLang="en-US" u="sng">
                <a:solidFill>
                  <a:schemeClr val="hlink"/>
                </a:solidFill>
              </a:rPr>
              <a:t>data quality</a:t>
            </a:r>
            <a:r>
              <a:rPr lang="en-US" altLang="en-US"/>
              <a:t>: different sources typically use inconsistent data representations, codes and formats which have to be reconciled</a:t>
            </a:r>
          </a:p>
        </p:txBody>
      </p:sp>
    </p:spTree>
    <p:extLst>
      <p:ext uri="{BB962C8B-B14F-4D97-AF65-F5344CB8AC3E}">
        <p14:creationId xmlns:p14="http://schemas.microsoft.com/office/powerpoint/2010/main" val="65665822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3244-8C1E-4077-B214-13764050C00F}" type="datetime4">
              <a:rPr lang="en-US" altLang="en-US"/>
              <a:pPr/>
              <a:t>December 29, 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D81A-E606-47CB-92A9-3BA95E4CED3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381000"/>
            <a:ext cx="5486400" cy="838200"/>
          </a:xfrm>
          <a:noFill/>
          <a:ln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/>
              <a:t>Conceptual Modeling of Data Warehouses</a:t>
            </a:r>
          </a:p>
        </p:txBody>
      </p:sp>
      <p:sp>
        <p:nvSpPr>
          <p:cNvPr id="93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8382000" cy="4857750"/>
          </a:xfrm>
          <a:noFill/>
          <a:ln/>
        </p:spPr>
        <p:txBody>
          <a:bodyPr vert="horz" lIns="92075" tIns="46038" rIns="92075" bIns="46038" rtlCol="0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en-US" sz="2400"/>
              <a:t>Modeling data warehouses: dimensions &amp; measures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altLang="en-US" u="sng">
                <a:solidFill>
                  <a:schemeClr val="hlink"/>
                </a:solidFill>
              </a:rPr>
              <a:t>Star schema</a:t>
            </a:r>
            <a:r>
              <a:rPr lang="en-US" altLang="en-US"/>
              <a:t>: </a:t>
            </a:r>
            <a:r>
              <a:rPr lang="en-US" altLang="en-US">
                <a:solidFill>
                  <a:srgbClr val="006666"/>
                </a:solidFill>
              </a:rPr>
              <a:t>A fact table in the middle connected to a set of dimension tables 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altLang="en-US" u="sng">
                <a:solidFill>
                  <a:schemeClr val="hlink"/>
                </a:solidFill>
              </a:rPr>
              <a:t>Snowflake schema</a:t>
            </a:r>
            <a:r>
              <a:rPr lang="en-US" altLang="en-US"/>
              <a:t>:  </a:t>
            </a:r>
            <a:r>
              <a:rPr lang="en-US" altLang="en-US">
                <a:solidFill>
                  <a:srgbClr val="006666"/>
                </a:solidFill>
              </a:rPr>
              <a:t>A refinement of star schema where some dimensional hierarchy is </a:t>
            </a:r>
            <a:r>
              <a:rPr lang="en-US" altLang="en-US">
                <a:solidFill>
                  <a:schemeClr val="folHlink"/>
                </a:solidFill>
              </a:rPr>
              <a:t>normalized</a:t>
            </a:r>
            <a:r>
              <a:rPr lang="en-US" altLang="en-US">
                <a:solidFill>
                  <a:srgbClr val="006666"/>
                </a:solidFill>
              </a:rPr>
              <a:t> into a set of smaller dimension tables</a:t>
            </a:r>
            <a:r>
              <a:rPr lang="en-US" altLang="en-US"/>
              <a:t>, forming a shape similar to snowflake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altLang="en-US" u="sng">
                <a:solidFill>
                  <a:schemeClr val="hlink"/>
                </a:solidFill>
              </a:rPr>
              <a:t>Fact constellations</a:t>
            </a:r>
            <a:r>
              <a:rPr lang="en-US" altLang="en-US"/>
              <a:t>:  </a:t>
            </a:r>
            <a:r>
              <a:rPr lang="en-US" altLang="en-US">
                <a:solidFill>
                  <a:srgbClr val="006666"/>
                </a:solidFill>
              </a:rPr>
              <a:t>Multiple fact tables share dimension tables</a:t>
            </a:r>
            <a:r>
              <a:rPr lang="en-US" altLang="en-US"/>
              <a:t>, viewed as a collection of stars, therefore called </a:t>
            </a:r>
            <a:r>
              <a:rPr lang="en-US" altLang="en-US">
                <a:solidFill>
                  <a:schemeClr val="folHlink"/>
                </a:solidFill>
              </a:rPr>
              <a:t>galaxy schema</a:t>
            </a:r>
            <a:r>
              <a:rPr lang="en-US" altLang="en-US"/>
              <a:t> or fact constellation </a:t>
            </a:r>
          </a:p>
        </p:txBody>
      </p:sp>
    </p:spTree>
    <p:extLst>
      <p:ext uri="{BB962C8B-B14F-4D97-AF65-F5344CB8AC3E}">
        <p14:creationId xmlns:p14="http://schemas.microsoft.com/office/powerpoint/2010/main" val="317366293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9426-61BF-40E2-A97C-BBCB073B61BF}" type="datetime4">
              <a:rPr lang="en-US" altLang="en-US"/>
              <a:pPr/>
              <a:t>December 29, 2025</a:t>
            </a:fld>
            <a:endParaRPr lang="en-US" altLang="en-US"/>
          </a:p>
        </p:txBody>
      </p:sp>
      <p:sp>
        <p:nvSpPr>
          <p:cNvPr id="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98F6E-2FB3-4AC0-9017-EFAFD4FE129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3363" y="782638"/>
            <a:ext cx="7226300" cy="44291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Star Schema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43850" y="1676400"/>
            <a:ext cx="2495550" cy="43053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   </a:t>
            </a:r>
          </a:p>
        </p:txBody>
      </p:sp>
      <p:sp>
        <p:nvSpPr>
          <p:cNvPr id="875525" name="Rectangle 5"/>
          <p:cNvSpPr>
            <a:spLocks noChangeArrowheads="1"/>
          </p:cNvSpPr>
          <p:nvPr/>
        </p:nvSpPr>
        <p:spPr bwMode="auto">
          <a:xfrm>
            <a:off x="5072064" y="31623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5526" name="Group 6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875527" name="Rectangle 7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time_key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day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day_of_the_week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month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quarter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875528" name="Rectangle 8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875529" name="Group 9"/>
          <p:cNvGrpSpPr>
            <a:grpSpLocks/>
          </p:cNvGrpSpPr>
          <p:nvPr/>
        </p:nvGrpSpPr>
        <p:grpSpPr bwMode="auto">
          <a:xfrm>
            <a:off x="8128001" y="3867151"/>
            <a:ext cx="1908175" cy="1884363"/>
            <a:chOff x="684" y="2196"/>
            <a:chExt cx="1189" cy="1168"/>
          </a:xfrm>
        </p:grpSpPr>
        <p:sp>
          <p:nvSpPr>
            <p:cNvPr id="875530" name="Rectangle 10"/>
            <p:cNvSpPr>
              <a:spLocks noChangeArrowheads="1"/>
            </p:cNvSpPr>
            <p:nvPr/>
          </p:nvSpPr>
          <p:spPr bwMode="auto">
            <a:xfrm>
              <a:off x="684" y="2450"/>
              <a:ext cx="1189" cy="91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location_key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street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city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province_or_street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875531" name="Rectangle 11"/>
            <p:cNvSpPr>
              <a:spLocks noChangeArrowheads="1"/>
            </p:cNvSpPr>
            <p:nvPr/>
          </p:nvSpPr>
          <p:spPr bwMode="auto"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875532" name="Rectangle 12"/>
          <p:cNvSpPr>
            <a:spLocks noChangeArrowheads="1"/>
          </p:cNvSpPr>
          <p:nvPr/>
        </p:nvSpPr>
        <p:spPr bwMode="auto">
          <a:xfrm>
            <a:off x="4975225" y="2279650"/>
            <a:ext cx="1856214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875533" name="Rectangle 13"/>
          <p:cNvSpPr>
            <a:spLocks noChangeArrowheads="1"/>
          </p:cNvSpPr>
          <p:nvPr/>
        </p:nvSpPr>
        <p:spPr bwMode="auto">
          <a:xfrm>
            <a:off x="5072064" y="2697164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34" name="Rectangle 14"/>
          <p:cNvSpPr>
            <a:spLocks noChangeArrowheads="1"/>
          </p:cNvSpPr>
          <p:nvPr/>
        </p:nvSpPr>
        <p:spPr bwMode="auto">
          <a:xfrm>
            <a:off x="5105400" y="274320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875535" name="Rectangle 15"/>
          <p:cNvSpPr>
            <a:spLocks noChangeArrowheads="1"/>
          </p:cNvSpPr>
          <p:nvPr/>
        </p:nvSpPr>
        <p:spPr bwMode="auto">
          <a:xfrm>
            <a:off x="5106988" y="319246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  item_key</a:t>
            </a:r>
          </a:p>
        </p:txBody>
      </p:sp>
      <p:sp>
        <p:nvSpPr>
          <p:cNvPr id="875536" name="Rectangle 16"/>
          <p:cNvSpPr>
            <a:spLocks noChangeArrowheads="1"/>
          </p:cNvSpPr>
          <p:nvPr/>
        </p:nvSpPr>
        <p:spPr bwMode="auto">
          <a:xfrm>
            <a:off x="5072064" y="36274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37" name="Rectangle 17"/>
          <p:cNvSpPr>
            <a:spLocks noChangeArrowheads="1"/>
          </p:cNvSpPr>
          <p:nvPr/>
        </p:nvSpPr>
        <p:spPr bwMode="auto">
          <a:xfrm>
            <a:off x="5106988" y="363855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875538" name="Rectangle 18"/>
          <p:cNvSpPr>
            <a:spLocks noChangeArrowheads="1"/>
          </p:cNvSpPr>
          <p:nvPr/>
        </p:nvSpPr>
        <p:spPr bwMode="auto">
          <a:xfrm>
            <a:off x="5072064" y="4090989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39" name="Rectangle 19"/>
          <p:cNvSpPr>
            <a:spLocks noChangeArrowheads="1"/>
          </p:cNvSpPr>
          <p:nvPr/>
        </p:nvSpPr>
        <p:spPr bwMode="auto">
          <a:xfrm>
            <a:off x="5105401" y="411480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875540" name="Rectangle 20"/>
          <p:cNvSpPr>
            <a:spLocks noChangeArrowheads="1"/>
          </p:cNvSpPr>
          <p:nvPr/>
        </p:nvSpPr>
        <p:spPr bwMode="auto">
          <a:xfrm>
            <a:off x="5072064" y="45561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41" name="Rectangle 21"/>
          <p:cNvSpPr>
            <a:spLocks noChangeArrowheads="1"/>
          </p:cNvSpPr>
          <p:nvPr/>
        </p:nvSpPr>
        <p:spPr bwMode="auto">
          <a:xfrm>
            <a:off x="5106988" y="460692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875542" name="Rectangle 22"/>
          <p:cNvSpPr>
            <a:spLocks noChangeArrowheads="1"/>
          </p:cNvSpPr>
          <p:nvPr/>
        </p:nvSpPr>
        <p:spPr bwMode="auto">
          <a:xfrm>
            <a:off x="5072064" y="50212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43" name="Rectangle 23"/>
          <p:cNvSpPr>
            <a:spLocks noChangeArrowheads="1"/>
          </p:cNvSpPr>
          <p:nvPr/>
        </p:nvSpPr>
        <p:spPr bwMode="auto">
          <a:xfrm>
            <a:off x="5106988" y="505142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875544" name="Rectangle 24"/>
          <p:cNvSpPr>
            <a:spLocks noChangeArrowheads="1"/>
          </p:cNvSpPr>
          <p:nvPr/>
        </p:nvSpPr>
        <p:spPr bwMode="auto">
          <a:xfrm>
            <a:off x="5072064" y="54864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45" name="Rectangle 25"/>
          <p:cNvSpPr>
            <a:spLocks noChangeArrowheads="1"/>
          </p:cNvSpPr>
          <p:nvPr/>
        </p:nvSpPr>
        <p:spPr bwMode="auto">
          <a:xfrm>
            <a:off x="5087939" y="549751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875546" name="Rectangle 26"/>
          <p:cNvSpPr>
            <a:spLocks noChangeArrowheads="1"/>
          </p:cNvSpPr>
          <p:nvPr/>
        </p:nvSpPr>
        <p:spPr bwMode="auto">
          <a:xfrm>
            <a:off x="3581400" y="59055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875547" name="Line 27"/>
          <p:cNvSpPr>
            <a:spLocks noChangeShapeType="1"/>
          </p:cNvSpPr>
          <p:nvPr/>
        </p:nvSpPr>
        <p:spPr bwMode="auto">
          <a:xfrm flipV="1">
            <a:off x="4295775" y="47815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48" name="Line 28"/>
          <p:cNvSpPr>
            <a:spLocks noChangeShapeType="1"/>
          </p:cNvSpPr>
          <p:nvPr/>
        </p:nvSpPr>
        <p:spPr bwMode="auto">
          <a:xfrm flipV="1">
            <a:off x="4276725" y="532447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49" name="Line 29"/>
          <p:cNvSpPr>
            <a:spLocks noChangeShapeType="1"/>
          </p:cNvSpPr>
          <p:nvPr/>
        </p:nvSpPr>
        <p:spPr bwMode="auto">
          <a:xfrm flipV="1">
            <a:off x="4276726" y="569277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50" name="Line 30"/>
          <p:cNvSpPr>
            <a:spLocks noChangeShapeType="1"/>
          </p:cNvSpPr>
          <p:nvPr/>
        </p:nvSpPr>
        <p:spPr bwMode="auto">
          <a:xfrm flipH="1">
            <a:off x="3852863" y="394970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51" name="Line 31"/>
          <p:cNvSpPr>
            <a:spLocks noChangeShapeType="1"/>
          </p:cNvSpPr>
          <p:nvPr/>
        </p:nvSpPr>
        <p:spPr bwMode="auto">
          <a:xfrm flipH="1" flipV="1">
            <a:off x="3657601" y="2514601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52" name="Line 32"/>
          <p:cNvSpPr>
            <a:spLocks noChangeShapeType="1"/>
          </p:cNvSpPr>
          <p:nvPr/>
        </p:nvSpPr>
        <p:spPr bwMode="auto">
          <a:xfrm>
            <a:off x="7104063" y="43561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5553" name="Line 33"/>
          <p:cNvSpPr>
            <a:spLocks noChangeShapeType="1"/>
          </p:cNvSpPr>
          <p:nvPr/>
        </p:nvSpPr>
        <p:spPr bwMode="auto">
          <a:xfrm flipV="1">
            <a:off x="7104063" y="27098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5554" name="Group 34"/>
          <p:cNvGrpSpPr>
            <a:grpSpLocks/>
          </p:cNvGrpSpPr>
          <p:nvPr/>
        </p:nvGrpSpPr>
        <p:grpSpPr bwMode="auto">
          <a:xfrm>
            <a:off x="8134351" y="1600200"/>
            <a:ext cx="1438275" cy="1925638"/>
            <a:chOff x="3796" y="983"/>
            <a:chExt cx="896" cy="1194"/>
          </a:xfrm>
        </p:grpSpPr>
        <p:sp>
          <p:nvSpPr>
            <p:cNvPr id="875555" name="Rectangle 35"/>
            <p:cNvSpPr>
              <a:spLocks noChangeArrowheads="1"/>
            </p:cNvSpPr>
            <p:nvPr/>
          </p:nvSpPr>
          <p:spPr bwMode="auto"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item_key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item_name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brand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type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875556" name="Text Box 36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875557" name="Group 37"/>
          <p:cNvGrpSpPr>
            <a:grpSpLocks/>
          </p:cNvGrpSpPr>
          <p:nvPr/>
        </p:nvGrpSpPr>
        <p:grpSpPr bwMode="auto">
          <a:xfrm>
            <a:off x="2362201" y="3886201"/>
            <a:ext cx="1509713" cy="1393825"/>
            <a:chOff x="3844" y="2426"/>
            <a:chExt cx="939" cy="864"/>
          </a:xfrm>
        </p:grpSpPr>
        <p:sp>
          <p:nvSpPr>
            <p:cNvPr id="875558" name="Rectangle 38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branch_name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875559" name="Text Box 39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153436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B0F96-2508-4EB9-8EA8-BFCEA608CF2D}" type="datetime4">
              <a:rPr lang="en-US" altLang="en-US"/>
              <a:pPr/>
              <a:t>December 29, 2025</a:t>
            </a:fld>
            <a:endParaRPr lang="en-US" altLang="en-US"/>
          </a:p>
        </p:txBody>
      </p:sp>
      <p:sp>
        <p:nvSpPr>
          <p:cNvPr id="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A711-F8A7-43DC-8F4A-DBEB199E7E5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93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3363" y="782638"/>
            <a:ext cx="7226300" cy="44291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Snowflake Schema</a:t>
            </a:r>
          </a:p>
        </p:txBody>
      </p:sp>
      <p:sp>
        <p:nvSpPr>
          <p:cNvPr id="939012" name="Rectangle 4"/>
          <p:cNvSpPr>
            <a:spLocks noChangeArrowheads="1"/>
          </p:cNvSpPr>
          <p:nvPr/>
        </p:nvSpPr>
        <p:spPr bwMode="auto">
          <a:xfrm>
            <a:off x="4841875" y="3105150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9013" name="Group 5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939014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time_key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day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day_of_the_week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month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quarter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939015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939016" name="Group 8"/>
          <p:cNvGrpSpPr>
            <a:grpSpLocks/>
          </p:cNvGrpSpPr>
          <p:nvPr/>
        </p:nvGrpSpPr>
        <p:grpSpPr bwMode="auto">
          <a:xfrm>
            <a:off x="7391401" y="3810001"/>
            <a:ext cx="1374775" cy="1331913"/>
            <a:chOff x="684" y="2196"/>
            <a:chExt cx="1298" cy="834"/>
          </a:xfrm>
        </p:grpSpPr>
        <p:sp>
          <p:nvSpPr>
            <p:cNvPr id="939017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298" cy="5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location_key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street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city_key</a:t>
              </a:r>
            </a:p>
          </p:txBody>
        </p:sp>
        <p:sp>
          <p:nvSpPr>
            <p:cNvPr id="939018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953" cy="2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939019" name="Rectangle 11"/>
          <p:cNvSpPr>
            <a:spLocks noChangeArrowheads="1"/>
          </p:cNvSpPr>
          <p:nvPr/>
        </p:nvSpPr>
        <p:spPr bwMode="auto">
          <a:xfrm>
            <a:off x="4799013" y="2152650"/>
            <a:ext cx="1856214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939020" name="Rectangle 12"/>
          <p:cNvSpPr>
            <a:spLocks noChangeArrowheads="1"/>
          </p:cNvSpPr>
          <p:nvPr/>
        </p:nvSpPr>
        <p:spPr bwMode="auto">
          <a:xfrm>
            <a:off x="4841875" y="2640014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21" name="Rectangle 13"/>
          <p:cNvSpPr>
            <a:spLocks noChangeArrowheads="1"/>
          </p:cNvSpPr>
          <p:nvPr/>
        </p:nvSpPr>
        <p:spPr bwMode="auto">
          <a:xfrm>
            <a:off x="4875213" y="268605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939022" name="Rectangle 14"/>
          <p:cNvSpPr>
            <a:spLocks noChangeArrowheads="1"/>
          </p:cNvSpPr>
          <p:nvPr/>
        </p:nvSpPr>
        <p:spPr bwMode="auto">
          <a:xfrm>
            <a:off x="4876800" y="313531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  item_key</a:t>
            </a:r>
          </a:p>
        </p:txBody>
      </p:sp>
      <p:sp>
        <p:nvSpPr>
          <p:cNvPr id="939023" name="Rectangle 15"/>
          <p:cNvSpPr>
            <a:spLocks noChangeArrowheads="1"/>
          </p:cNvSpPr>
          <p:nvPr/>
        </p:nvSpPr>
        <p:spPr bwMode="auto">
          <a:xfrm>
            <a:off x="4841875" y="3570288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24" name="Rectangle 16"/>
          <p:cNvSpPr>
            <a:spLocks noChangeArrowheads="1"/>
          </p:cNvSpPr>
          <p:nvPr/>
        </p:nvSpPr>
        <p:spPr bwMode="auto">
          <a:xfrm>
            <a:off x="4876800" y="358140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939025" name="Rectangle 17"/>
          <p:cNvSpPr>
            <a:spLocks noChangeArrowheads="1"/>
          </p:cNvSpPr>
          <p:nvPr/>
        </p:nvSpPr>
        <p:spPr bwMode="auto">
          <a:xfrm>
            <a:off x="4841875" y="4033839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26" name="Rectangle 18"/>
          <p:cNvSpPr>
            <a:spLocks noChangeArrowheads="1"/>
          </p:cNvSpPr>
          <p:nvPr/>
        </p:nvSpPr>
        <p:spPr bwMode="auto">
          <a:xfrm>
            <a:off x="4875214" y="405765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939027" name="Rectangle 19"/>
          <p:cNvSpPr>
            <a:spLocks noChangeArrowheads="1"/>
          </p:cNvSpPr>
          <p:nvPr/>
        </p:nvSpPr>
        <p:spPr bwMode="auto">
          <a:xfrm>
            <a:off x="4841875" y="4498975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28" name="Rectangle 20"/>
          <p:cNvSpPr>
            <a:spLocks noChangeArrowheads="1"/>
          </p:cNvSpPr>
          <p:nvPr/>
        </p:nvSpPr>
        <p:spPr bwMode="auto">
          <a:xfrm>
            <a:off x="4876800" y="454977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939029" name="Rectangle 21"/>
          <p:cNvSpPr>
            <a:spLocks noChangeArrowheads="1"/>
          </p:cNvSpPr>
          <p:nvPr/>
        </p:nvSpPr>
        <p:spPr bwMode="auto">
          <a:xfrm>
            <a:off x="4841875" y="4964113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0" name="Rectangle 22"/>
          <p:cNvSpPr>
            <a:spLocks noChangeArrowheads="1"/>
          </p:cNvSpPr>
          <p:nvPr/>
        </p:nvSpPr>
        <p:spPr bwMode="auto">
          <a:xfrm>
            <a:off x="4876800" y="499427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939031" name="Rectangle 23"/>
          <p:cNvSpPr>
            <a:spLocks noChangeArrowheads="1"/>
          </p:cNvSpPr>
          <p:nvPr/>
        </p:nvSpPr>
        <p:spPr bwMode="auto">
          <a:xfrm>
            <a:off x="4841875" y="5429250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2" name="Rectangle 24"/>
          <p:cNvSpPr>
            <a:spLocks noChangeArrowheads="1"/>
          </p:cNvSpPr>
          <p:nvPr/>
        </p:nvSpPr>
        <p:spPr bwMode="auto">
          <a:xfrm>
            <a:off x="4857751" y="544036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939033" name="Rectangle 25"/>
          <p:cNvSpPr>
            <a:spLocks noChangeArrowheads="1"/>
          </p:cNvSpPr>
          <p:nvPr/>
        </p:nvSpPr>
        <p:spPr bwMode="auto">
          <a:xfrm>
            <a:off x="3200400" y="58674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939034" name="Line 26"/>
          <p:cNvSpPr>
            <a:spLocks noChangeShapeType="1"/>
          </p:cNvSpPr>
          <p:nvPr/>
        </p:nvSpPr>
        <p:spPr bwMode="auto">
          <a:xfrm flipV="1">
            <a:off x="4114800" y="472440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5" name="Line 27"/>
          <p:cNvSpPr>
            <a:spLocks noChangeShapeType="1"/>
          </p:cNvSpPr>
          <p:nvPr/>
        </p:nvSpPr>
        <p:spPr bwMode="auto">
          <a:xfrm flipV="1">
            <a:off x="4095750" y="526732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6" name="Line 28"/>
          <p:cNvSpPr>
            <a:spLocks noChangeShapeType="1"/>
          </p:cNvSpPr>
          <p:nvPr/>
        </p:nvSpPr>
        <p:spPr bwMode="auto">
          <a:xfrm flipV="1">
            <a:off x="4095751" y="56356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7" name="Line 29"/>
          <p:cNvSpPr>
            <a:spLocks noChangeShapeType="1"/>
          </p:cNvSpPr>
          <p:nvPr/>
        </p:nvSpPr>
        <p:spPr bwMode="auto">
          <a:xfrm flipH="1">
            <a:off x="3657600" y="388620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8" name="Line 30"/>
          <p:cNvSpPr>
            <a:spLocks noChangeShapeType="1"/>
          </p:cNvSpPr>
          <p:nvPr/>
        </p:nvSpPr>
        <p:spPr bwMode="auto">
          <a:xfrm flipH="1" flipV="1">
            <a:off x="3657601" y="2514601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39" name="Line 31"/>
          <p:cNvSpPr>
            <a:spLocks noChangeShapeType="1"/>
          </p:cNvSpPr>
          <p:nvPr/>
        </p:nvSpPr>
        <p:spPr bwMode="auto">
          <a:xfrm>
            <a:off x="6934200" y="426720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9040" name="Line 32"/>
          <p:cNvSpPr>
            <a:spLocks noChangeShapeType="1"/>
          </p:cNvSpPr>
          <p:nvPr/>
        </p:nvSpPr>
        <p:spPr bwMode="auto">
          <a:xfrm flipV="1">
            <a:off x="6858000" y="2819400"/>
            <a:ext cx="6096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9041" name="Group 33"/>
          <p:cNvGrpSpPr>
            <a:grpSpLocks/>
          </p:cNvGrpSpPr>
          <p:nvPr/>
        </p:nvGrpSpPr>
        <p:grpSpPr bwMode="auto">
          <a:xfrm>
            <a:off x="7467601" y="1524000"/>
            <a:ext cx="1374775" cy="1924050"/>
            <a:chOff x="3796" y="983"/>
            <a:chExt cx="857" cy="1193"/>
          </a:xfrm>
        </p:grpSpPr>
        <p:sp>
          <p:nvSpPr>
            <p:cNvPr id="939042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57" cy="91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item_key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item_name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brand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type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supplier_key</a:t>
              </a:r>
            </a:p>
          </p:txBody>
        </p:sp>
        <p:sp>
          <p:nvSpPr>
            <p:cNvPr id="939043" name="Text Box 35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939044" name="Group 36"/>
          <p:cNvGrpSpPr>
            <a:grpSpLocks/>
          </p:cNvGrpSpPr>
          <p:nvPr/>
        </p:nvGrpSpPr>
        <p:grpSpPr bwMode="auto">
          <a:xfrm>
            <a:off x="2133601" y="3886201"/>
            <a:ext cx="1509713" cy="1393825"/>
            <a:chOff x="3844" y="2426"/>
            <a:chExt cx="939" cy="864"/>
          </a:xfrm>
        </p:grpSpPr>
        <p:sp>
          <p:nvSpPr>
            <p:cNvPr id="939045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branch_name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939046" name="Text Box 38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grpSp>
        <p:nvGrpSpPr>
          <p:cNvPr id="939048" name="Group 40"/>
          <p:cNvGrpSpPr>
            <a:grpSpLocks/>
          </p:cNvGrpSpPr>
          <p:nvPr/>
        </p:nvGrpSpPr>
        <p:grpSpPr bwMode="auto">
          <a:xfrm>
            <a:off x="9218614" y="1981200"/>
            <a:ext cx="1449387" cy="998538"/>
            <a:chOff x="3789" y="855"/>
            <a:chExt cx="903" cy="1172"/>
          </a:xfrm>
        </p:grpSpPr>
        <p:sp>
          <p:nvSpPr>
            <p:cNvPr id="939049" name="Rectangle 41"/>
            <p:cNvSpPr>
              <a:spLocks noChangeArrowheads="1"/>
            </p:cNvSpPr>
            <p:nvPr/>
          </p:nvSpPr>
          <p:spPr bwMode="auto">
            <a:xfrm>
              <a:off x="3796" y="1263"/>
              <a:ext cx="896" cy="76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supplier_key</a:t>
              </a:r>
            </a:p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939050" name="Text Box 42"/>
            <p:cNvSpPr txBox="1">
              <a:spLocks noChangeArrowheads="1"/>
            </p:cNvSpPr>
            <p:nvPr/>
          </p:nvSpPr>
          <p:spPr bwMode="auto">
            <a:xfrm>
              <a:off x="3789" y="855"/>
              <a:ext cx="732" cy="5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supplier</a:t>
              </a:r>
            </a:p>
          </p:txBody>
        </p:sp>
      </p:grpSp>
      <p:sp>
        <p:nvSpPr>
          <p:cNvPr id="939051" name="Line 43"/>
          <p:cNvSpPr>
            <a:spLocks noChangeShapeType="1"/>
          </p:cNvSpPr>
          <p:nvPr/>
        </p:nvSpPr>
        <p:spPr bwMode="auto">
          <a:xfrm flipV="1">
            <a:off x="8763000" y="2971800"/>
            <a:ext cx="533400" cy="3048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9053" name="Group 45"/>
          <p:cNvGrpSpPr>
            <a:grpSpLocks/>
          </p:cNvGrpSpPr>
          <p:nvPr/>
        </p:nvGrpSpPr>
        <p:grpSpPr bwMode="auto">
          <a:xfrm>
            <a:off x="9067800" y="4800600"/>
            <a:ext cx="1722438" cy="1485900"/>
            <a:chOff x="684" y="2196"/>
            <a:chExt cx="1627" cy="930"/>
          </a:xfrm>
        </p:grpSpPr>
        <p:sp>
          <p:nvSpPr>
            <p:cNvPr id="939054" name="Rectangle 46"/>
            <p:cNvSpPr>
              <a:spLocks noChangeArrowheads="1"/>
            </p:cNvSpPr>
            <p:nvPr/>
          </p:nvSpPr>
          <p:spPr bwMode="auto">
            <a:xfrm>
              <a:off x="684" y="2450"/>
              <a:ext cx="1627" cy="67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city_key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province_or_street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939055" name="Rectangle 47"/>
            <p:cNvSpPr>
              <a:spLocks noChangeArrowheads="1"/>
            </p:cNvSpPr>
            <p:nvPr/>
          </p:nvSpPr>
          <p:spPr bwMode="auto">
            <a:xfrm>
              <a:off x="684" y="2196"/>
              <a:ext cx="541" cy="2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2000">
                  <a:latin typeface="Times New Roman" panose="02020603050405020304" pitchFamily="18" charset="0"/>
                </a:rPr>
                <a:t>city</a:t>
              </a:r>
            </a:p>
          </p:txBody>
        </p:sp>
      </p:grpSp>
      <p:sp>
        <p:nvSpPr>
          <p:cNvPr id="939056" name="Line 48"/>
          <p:cNvSpPr>
            <a:spLocks noChangeShapeType="1"/>
          </p:cNvSpPr>
          <p:nvPr/>
        </p:nvSpPr>
        <p:spPr bwMode="auto">
          <a:xfrm>
            <a:off x="8686800" y="5105400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4586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A554-29FA-45ED-A939-4609CE332D76}" type="datetime4">
              <a:rPr lang="en-US" altLang="en-US"/>
              <a:pPr/>
              <a:t>December 29, 2025</a:t>
            </a:fld>
            <a:endParaRPr lang="en-US" altLang="en-US"/>
          </a:p>
        </p:txBody>
      </p:sp>
      <p:sp>
        <p:nvSpPr>
          <p:cNvPr id="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D3D30-79FF-4002-882C-5DCFAD709F1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381000"/>
            <a:ext cx="6446838" cy="6921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Fact Constellation</a:t>
            </a:r>
          </a:p>
        </p:txBody>
      </p:sp>
      <p:sp>
        <p:nvSpPr>
          <p:cNvPr id="940036" name="Rectangle 4"/>
          <p:cNvSpPr>
            <a:spLocks noChangeArrowheads="1"/>
          </p:cNvSpPr>
          <p:nvPr/>
        </p:nvSpPr>
        <p:spPr bwMode="auto">
          <a:xfrm>
            <a:off x="4419600" y="3048000"/>
            <a:ext cx="160813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40037" name="Group 5"/>
          <p:cNvGrpSpPr>
            <a:grpSpLocks/>
          </p:cNvGrpSpPr>
          <p:nvPr/>
        </p:nvGrpSpPr>
        <p:grpSpPr bwMode="auto">
          <a:xfrm>
            <a:off x="1752600" y="1219200"/>
            <a:ext cx="1639888" cy="1982788"/>
            <a:chOff x="277" y="1164"/>
            <a:chExt cx="1021" cy="1229"/>
          </a:xfrm>
        </p:grpSpPr>
        <p:sp>
          <p:nvSpPr>
            <p:cNvPr id="940038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021" cy="97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time_key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day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day_of_the_week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month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quarter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940039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374" cy="233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940040" name="Group 8"/>
          <p:cNvGrpSpPr>
            <a:grpSpLocks/>
          </p:cNvGrpSpPr>
          <p:nvPr/>
        </p:nvGrpSpPr>
        <p:grpSpPr bwMode="auto">
          <a:xfrm>
            <a:off x="6629400" y="4038600"/>
            <a:ext cx="1722438" cy="1733550"/>
            <a:chOff x="684" y="2196"/>
            <a:chExt cx="1073" cy="1075"/>
          </a:xfrm>
        </p:grpSpPr>
        <p:sp>
          <p:nvSpPr>
            <p:cNvPr id="940041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073" cy="8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street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province_or_street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940042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580" cy="2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940043" name="Rectangle 11"/>
          <p:cNvSpPr>
            <a:spLocks noChangeArrowheads="1"/>
          </p:cNvSpPr>
          <p:nvPr/>
        </p:nvSpPr>
        <p:spPr bwMode="auto">
          <a:xfrm>
            <a:off x="4267200" y="2133601"/>
            <a:ext cx="169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940044" name="Rectangle 12"/>
          <p:cNvSpPr>
            <a:spLocks noChangeArrowheads="1"/>
          </p:cNvSpPr>
          <p:nvPr/>
        </p:nvSpPr>
        <p:spPr bwMode="auto">
          <a:xfrm>
            <a:off x="4419600" y="25908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45" name="Rectangle 13"/>
          <p:cNvSpPr>
            <a:spLocks noChangeArrowheads="1"/>
          </p:cNvSpPr>
          <p:nvPr/>
        </p:nvSpPr>
        <p:spPr bwMode="auto">
          <a:xfrm>
            <a:off x="4419600" y="2667001"/>
            <a:ext cx="1601788" cy="366713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940046" name="Rectangle 14"/>
          <p:cNvSpPr>
            <a:spLocks noChangeArrowheads="1"/>
          </p:cNvSpPr>
          <p:nvPr/>
        </p:nvSpPr>
        <p:spPr bwMode="auto">
          <a:xfrm>
            <a:off x="4419600" y="312420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940047" name="Rectangle 15"/>
          <p:cNvSpPr>
            <a:spLocks noChangeArrowheads="1"/>
          </p:cNvSpPr>
          <p:nvPr/>
        </p:nvSpPr>
        <p:spPr bwMode="auto">
          <a:xfrm>
            <a:off x="4419600" y="350520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48" name="Rectangle 16"/>
          <p:cNvSpPr>
            <a:spLocks noChangeArrowheads="1"/>
          </p:cNvSpPr>
          <p:nvPr/>
        </p:nvSpPr>
        <p:spPr bwMode="auto">
          <a:xfrm>
            <a:off x="4419600" y="350520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branch_key</a:t>
            </a:r>
          </a:p>
        </p:txBody>
      </p:sp>
      <p:sp>
        <p:nvSpPr>
          <p:cNvPr id="940049" name="Rectangle 17"/>
          <p:cNvSpPr>
            <a:spLocks noChangeArrowheads="1"/>
          </p:cNvSpPr>
          <p:nvPr/>
        </p:nvSpPr>
        <p:spPr bwMode="auto">
          <a:xfrm>
            <a:off x="4419600" y="39624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50" name="Rectangle 18"/>
          <p:cNvSpPr>
            <a:spLocks noChangeArrowheads="1"/>
          </p:cNvSpPr>
          <p:nvPr/>
        </p:nvSpPr>
        <p:spPr bwMode="auto">
          <a:xfrm>
            <a:off x="4418013" y="398145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location_key</a:t>
            </a:r>
          </a:p>
        </p:txBody>
      </p:sp>
      <p:sp>
        <p:nvSpPr>
          <p:cNvPr id="940051" name="Rectangle 19"/>
          <p:cNvSpPr>
            <a:spLocks noChangeArrowheads="1"/>
          </p:cNvSpPr>
          <p:nvPr/>
        </p:nvSpPr>
        <p:spPr bwMode="auto">
          <a:xfrm>
            <a:off x="4384676" y="441960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52" name="Rectangle 20"/>
          <p:cNvSpPr>
            <a:spLocks noChangeArrowheads="1"/>
          </p:cNvSpPr>
          <p:nvPr/>
        </p:nvSpPr>
        <p:spPr bwMode="auto">
          <a:xfrm>
            <a:off x="4419600" y="4473576"/>
            <a:ext cx="1581150" cy="36671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  units_sold</a:t>
            </a:r>
          </a:p>
        </p:txBody>
      </p:sp>
      <p:sp>
        <p:nvSpPr>
          <p:cNvPr id="940053" name="Rectangle 21"/>
          <p:cNvSpPr>
            <a:spLocks noChangeArrowheads="1"/>
          </p:cNvSpPr>
          <p:nvPr/>
        </p:nvSpPr>
        <p:spPr bwMode="auto">
          <a:xfrm>
            <a:off x="4384676" y="487680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54" name="Rectangle 22"/>
          <p:cNvSpPr>
            <a:spLocks noChangeArrowheads="1"/>
          </p:cNvSpPr>
          <p:nvPr/>
        </p:nvSpPr>
        <p:spPr bwMode="auto">
          <a:xfrm>
            <a:off x="4419600" y="4918076"/>
            <a:ext cx="15875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dollars_sold</a:t>
            </a:r>
          </a:p>
        </p:txBody>
      </p:sp>
      <p:sp>
        <p:nvSpPr>
          <p:cNvPr id="940055" name="Rectangle 23"/>
          <p:cNvSpPr>
            <a:spLocks noChangeArrowheads="1"/>
          </p:cNvSpPr>
          <p:nvPr/>
        </p:nvSpPr>
        <p:spPr bwMode="auto">
          <a:xfrm>
            <a:off x="4384676" y="533400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56" name="Rectangle 24"/>
          <p:cNvSpPr>
            <a:spLocks noChangeArrowheads="1"/>
          </p:cNvSpPr>
          <p:nvPr/>
        </p:nvSpPr>
        <p:spPr bwMode="auto">
          <a:xfrm>
            <a:off x="4400550" y="5364163"/>
            <a:ext cx="15875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   avg_sales</a:t>
            </a:r>
          </a:p>
        </p:txBody>
      </p:sp>
      <p:sp>
        <p:nvSpPr>
          <p:cNvPr id="940057" name="Rectangle 25"/>
          <p:cNvSpPr>
            <a:spLocks noChangeArrowheads="1"/>
          </p:cNvSpPr>
          <p:nvPr/>
        </p:nvSpPr>
        <p:spPr bwMode="auto">
          <a:xfrm>
            <a:off x="2819400" y="5715000"/>
            <a:ext cx="1219200" cy="376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940058" name="Line 26"/>
          <p:cNvSpPr>
            <a:spLocks noChangeShapeType="1"/>
          </p:cNvSpPr>
          <p:nvPr/>
        </p:nvSpPr>
        <p:spPr bwMode="auto">
          <a:xfrm flipV="1">
            <a:off x="3608389" y="4648200"/>
            <a:ext cx="769937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59" name="Line 27"/>
          <p:cNvSpPr>
            <a:spLocks noChangeShapeType="1"/>
          </p:cNvSpPr>
          <p:nvPr/>
        </p:nvSpPr>
        <p:spPr bwMode="auto">
          <a:xfrm flipV="1">
            <a:off x="3589339" y="5191126"/>
            <a:ext cx="788987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60" name="Line 28"/>
          <p:cNvSpPr>
            <a:spLocks noChangeShapeType="1"/>
          </p:cNvSpPr>
          <p:nvPr/>
        </p:nvSpPr>
        <p:spPr bwMode="auto">
          <a:xfrm flipV="1">
            <a:off x="3589339" y="55594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61" name="Line 29"/>
          <p:cNvSpPr>
            <a:spLocks noChangeShapeType="1"/>
          </p:cNvSpPr>
          <p:nvPr/>
        </p:nvSpPr>
        <p:spPr bwMode="auto">
          <a:xfrm flipH="1">
            <a:off x="3165475" y="381635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62" name="Line 30"/>
          <p:cNvSpPr>
            <a:spLocks noChangeShapeType="1"/>
          </p:cNvSpPr>
          <p:nvPr/>
        </p:nvSpPr>
        <p:spPr bwMode="auto">
          <a:xfrm flipH="1" flipV="1">
            <a:off x="3429000" y="2362200"/>
            <a:ext cx="914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63" name="Line 31"/>
          <p:cNvSpPr>
            <a:spLocks noChangeShapeType="1"/>
          </p:cNvSpPr>
          <p:nvPr/>
        </p:nvSpPr>
        <p:spPr bwMode="auto">
          <a:xfrm>
            <a:off x="6096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64" name="Line 32"/>
          <p:cNvSpPr>
            <a:spLocks noChangeShapeType="1"/>
          </p:cNvSpPr>
          <p:nvPr/>
        </p:nvSpPr>
        <p:spPr bwMode="auto">
          <a:xfrm flipV="1">
            <a:off x="6019800" y="2743201"/>
            <a:ext cx="762000" cy="52546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40065" name="Group 33"/>
          <p:cNvGrpSpPr>
            <a:grpSpLocks/>
          </p:cNvGrpSpPr>
          <p:nvPr/>
        </p:nvGrpSpPr>
        <p:grpSpPr bwMode="auto">
          <a:xfrm>
            <a:off x="6705600" y="1524001"/>
            <a:ext cx="1303338" cy="1744663"/>
            <a:chOff x="3796" y="1002"/>
            <a:chExt cx="812" cy="1081"/>
          </a:xfrm>
        </p:grpSpPr>
        <p:sp>
          <p:nvSpPr>
            <p:cNvPr id="940066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12" cy="82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item_key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item_name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brand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type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940067" name="Text Box 35"/>
            <p:cNvSpPr txBox="1">
              <a:spLocks noChangeArrowheads="1"/>
            </p:cNvSpPr>
            <p:nvPr/>
          </p:nvSpPr>
          <p:spPr bwMode="auto">
            <a:xfrm>
              <a:off x="3953" y="1002"/>
              <a:ext cx="401" cy="2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940068" name="Group 36"/>
          <p:cNvGrpSpPr>
            <a:grpSpLocks/>
          </p:cNvGrpSpPr>
          <p:nvPr/>
        </p:nvGrpSpPr>
        <p:grpSpPr bwMode="auto">
          <a:xfrm>
            <a:off x="1828800" y="3962401"/>
            <a:ext cx="1290638" cy="1230313"/>
            <a:chOff x="3896" y="2472"/>
            <a:chExt cx="803" cy="762"/>
          </a:xfrm>
        </p:grpSpPr>
        <p:sp>
          <p:nvSpPr>
            <p:cNvPr id="940069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03" cy="51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branch_key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branch_name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940070" name="Text Box 38"/>
            <p:cNvSpPr txBox="1">
              <a:spLocks noChangeArrowheads="1"/>
            </p:cNvSpPr>
            <p:nvPr/>
          </p:nvSpPr>
          <p:spPr bwMode="auto">
            <a:xfrm>
              <a:off x="3907" y="2472"/>
              <a:ext cx="507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sp>
        <p:nvSpPr>
          <p:cNvPr id="940071" name="Rectangle 39"/>
          <p:cNvSpPr>
            <a:spLocks noChangeArrowheads="1"/>
          </p:cNvSpPr>
          <p:nvPr/>
        </p:nvSpPr>
        <p:spPr bwMode="auto">
          <a:xfrm>
            <a:off x="8535989" y="2495550"/>
            <a:ext cx="160813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72" name="Rectangle 40"/>
          <p:cNvSpPr>
            <a:spLocks noChangeArrowheads="1"/>
          </p:cNvSpPr>
          <p:nvPr/>
        </p:nvSpPr>
        <p:spPr bwMode="auto">
          <a:xfrm>
            <a:off x="8383588" y="1581151"/>
            <a:ext cx="203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Shipping Fact Table</a:t>
            </a:r>
          </a:p>
        </p:txBody>
      </p:sp>
      <p:sp>
        <p:nvSpPr>
          <p:cNvPr id="940073" name="Rectangle 41"/>
          <p:cNvSpPr>
            <a:spLocks noChangeArrowheads="1"/>
          </p:cNvSpPr>
          <p:nvPr/>
        </p:nvSpPr>
        <p:spPr bwMode="auto">
          <a:xfrm>
            <a:off x="8535988" y="20383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74" name="Rectangle 42"/>
          <p:cNvSpPr>
            <a:spLocks noChangeArrowheads="1"/>
          </p:cNvSpPr>
          <p:nvPr/>
        </p:nvSpPr>
        <p:spPr bwMode="auto">
          <a:xfrm>
            <a:off x="8535989" y="2114551"/>
            <a:ext cx="1601787" cy="366713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altLang="en-US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940075" name="Rectangle 43"/>
          <p:cNvSpPr>
            <a:spLocks noChangeArrowheads="1"/>
          </p:cNvSpPr>
          <p:nvPr/>
        </p:nvSpPr>
        <p:spPr bwMode="auto">
          <a:xfrm>
            <a:off x="8535988" y="257175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940076" name="Rectangle 44"/>
          <p:cNvSpPr>
            <a:spLocks noChangeArrowheads="1"/>
          </p:cNvSpPr>
          <p:nvPr/>
        </p:nvSpPr>
        <p:spPr bwMode="auto">
          <a:xfrm>
            <a:off x="8535988" y="295275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77" name="Rectangle 45"/>
          <p:cNvSpPr>
            <a:spLocks noChangeArrowheads="1"/>
          </p:cNvSpPr>
          <p:nvPr/>
        </p:nvSpPr>
        <p:spPr bwMode="auto">
          <a:xfrm>
            <a:off x="8535988" y="295275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shipper_key</a:t>
            </a:r>
          </a:p>
        </p:txBody>
      </p:sp>
      <p:sp>
        <p:nvSpPr>
          <p:cNvPr id="940078" name="Rectangle 46"/>
          <p:cNvSpPr>
            <a:spLocks noChangeArrowheads="1"/>
          </p:cNvSpPr>
          <p:nvPr/>
        </p:nvSpPr>
        <p:spPr bwMode="auto">
          <a:xfrm>
            <a:off x="8535988" y="34099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79" name="Rectangle 47"/>
          <p:cNvSpPr>
            <a:spLocks noChangeArrowheads="1"/>
          </p:cNvSpPr>
          <p:nvPr/>
        </p:nvSpPr>
        <p:spPr bwMode="auto">
          <a:xfrm>
            <a:off x="8534400" y="342900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from_location</a:t>
            </a:r>
          </a:p>
        </p:txBody>
      </p:sp>
      <p:sp>
        <p:nvSpPr>
          <p:cNvPr id="940080" name="Rectangle 48"/>
          <p:cNvSpPr>
            <a:spLocks noChangeArrowheads="1"/>
          </p:cNvSpPr>
          <p:nvPr/>
        </p:nvSpPr>
        <p:spPr bwMode="auto">
          <a:xfrm>
            <a:off x="8501064" y="386715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81" name="Rectangle 49"/>
          <p:cNvSpPr>
            <a:spLocks noChangeArrowheads="1"/>
          </p:cNvSpPr>
          <p:nvPr/>
        </p:nvSpPr>
        <p:spPr bwMode="auto">
          <a:xfrm>
            <a:off x="8535988" y="3943351"/>
            <a:ext cx="15557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 to_location</a:t>
            </a:r>
          </a:p>
        </p:txBody>
      </p:sp>
      <p:sp>
        <p:nvSpPr>
          <p:cNvPr id="940082" name="Rectangle 50"/>
          <p:cNvSpPr>
            <a:spLocks noChangeArrowheads="1"/>
          </p:cNvSpPr>
          <p:nvPr/>
        </p:nvSpPr>
        <p:spPr bwMode="auto">
          <a:xfrm>
            <a:off x="8501064" y="432435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83" name="Rectangle 51"/>
          <p:cNvSpPr>
            <a:spLocks noChangeArrowheads="1"/>
          </p:cNvSpPr>
          <p:nvPr/>
        </p:nvSpPr>
        <p:spPr bwMode="auto">
          <a:xfrm>
            <a:off x="8535988" y="4365626"/>
            <a:ext cx="15748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  dollars_cost</a:t>
            </a:r>
          </a:p>
        </p:txBody>
      </p:sp>
      <p:sp>
        <p:nvSpPr>
          <p:cNvPr id="940084" name="Rectangle 52"/>
          <p:cNvSpPr>
            <a:spLocks noChangeArrowheads="1"/>
          </p:cNvSpPr>
          <p:nvPr/>
        </p:nvSpPr>
        <p:spPr bwMode="auto">
          <a:xfrm>
            <a:off x="8501064" y="478155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48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85" name="Rectangle 53"/>
          <p:cNvSpPr>
            <a:spLocks noChangeArrowheads="1"/>
          </p:cNvSpPr>
          <p:nvPr/>
        </p:nvSpPr>
        <p:spPr bwMode="auto">
          <a:xfrm>
            <a:off x="8516938" y="4811713"/>
            <a:ext cx="16256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>
                <a:latin typeface="Times New Roman" panose="02020603050405020304" pitchFamily="18" charset="0"/>
              </a:rPr>
              <a:t>   units_shipped</a:t>
            </a:r>
          </a:p>
        </p:txBody>
      </p:sp>
      <p:sp>
        <p:nvSpPr>
          <p:cNvPr id="940087" name="Line 55"/>
          <p:cNvSpPr>
            <a:spLocks noChangeShapeType="1"/>
          </p:cNvSpPr>
          <p:nvPr/>
        </p:nvSpPr>
        <p:spPr bwMode="auto">
          <a:xfrm flipH="1" flipV="1">
            <a:off x="8153400" y="1524000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88" name="Line 56"/>
          <p:cNvSpPr>
            <a:spLocks noChangeShapeType="1"/>
          </p:cNvSpPr>
          <p:nvPr/>
        </p:nvSpPr>
        <p:spPr bwMode="auto">
          <a:xfrm flipH="1">
            <a:off x="4267200" y="152400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89" name="Line 57"/>
          <p:cNvSpPr>
            <a:spLocks noChangeShapeType="1"/>
          </p:cNvSpPr>
          <p:nvPr/>
        </p:nvSpPr>
        <p:spPr bwMode="auto">
          <a:xfrm flipH="1">
            <a:off x="3429000" y="1524000"/>
            <a:ext cx="914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90" name="Line 58"/>
          <p:cNvSpPr>
            <a:spLocks noChangeShapeType="1"/>
          </p:cNvSpPr>
          <p:nvPr/>
        </p:nvSpPr>
        <p:spPr bwMode="auto">
          <a:xfrm flipH="1" flipV="1">
            <a:off x="8077200" y="2667000"/>
            <a:ext cx="533400" cy="76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91" name="Line 59"/>
          <p:cNvSpPr>
            <a:spLocks noChangeShapeType="1"/>
          </p:cNvSpPr>
          <p:nvPr/>
        </p:nvSpPr>
        <p:spPr bwMode="auto">
          <a:xfrm flipH="1">
            <a:off x="7772400" y="3657600"/>
            <a:ext cx="685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92" name="Line 60"/>
          <p:cNvSpPr>
            <a:spLocks noChangeShapeType="1"/>
          </p:cNvSpPr>
          <p:nvPr/>
        </p:nvSpPr>
        <p:spPr bwMode="auto">
          <a:xfrm flipH="1">
            <a:off x="8001000" y="41910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93" name="Line 61"/>
          <p:cNvSpPr>
            <a:spLocks noChangeShapeType="1"/>
          </p:cNvSpPr>
          <p:nvPr/>
        </p:nvSpPr>
        <p:spPr bwMode="auto">
          <a:xfrm>
            <a:off x="10515600" y="32004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940095" name="Group 63"/>
          <p:cNvGrpSpPr>
            <a:grpSpLocks/>
          </p:cNvGrpSpPr>
          <p:nvPr/>
        </p:nvGrpSpPr>
        <p:grpSpPr bwMode="auto">
          <a:xfrm>
            <a:off x="9136063" y="5410200"/>
            <a:ext cx="1344612" cy="1473200"/>
            <a:chOff x="3891" y="2472"/>
            <a:chExt cx="836" cy="911"/>
          </a:xfrm>
        </p:grpSpPr>
        <p:sp>
          <p:nvSpPr>
            <p:cNvPr id="940096" name="Rectangle 64"/>
            <p:cNvSpPr>
              <a:spLocks noChangeArrowheads="1"/>
            </p:cNvSpPr>
            <p:nvPr/>
          </p:nvSpPr>
          <p:spPr bwMode="auto">
            <a:xfrm>
              <a:off x="3896" y="2715"/>
              <a:ext cx="831" cy="66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shipper_key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shipper_name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 eaLnBrk="0" hangingPunct="0"/>
              <a:r>
                <a:rPr lang="en-US" altLang="en-US" sz="1600">
                  <a:latin typeface="Times New Roman" panose="02020603050405020304" pitchFamily="18" charset="0"/>
                </a:rPr>
                <a:t>shipper_type</a:t>
              </a:r>
            </a:p>
          </p:txBody>
        </p:sp>
        <p:sp>
          <p:nvSpPr>
            <p:cNvPr id="940097" name="Text Box 65"/>
            <p:cNvSpPr txBox="1">
              <a:spLocks noChangeArrowheads="1"/>
            </p:cNvSpPr>
            <p:nvPr/>
          </p:nvSpPr>
          <p:spPr bwMode="auto">
            <a:xfrm>
              <a:off x="3891" y="2472"/>
              <a:ext cx="539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>
                  <a:latin typeface="Times New Roman" panose="02020603050405020304" pitchFamily="18" charset="0"/>
                </a:rPr>
                <a:t>shipper</a:t>
              </a:r>
            </a:p>
          </p:txBody>
        </p:sp>
      </p:grpSp>
      <p:sp>
        <p:nvSpPr>
          <p:cNvPr id="940098" name="Line 66"/>
          <p:cNvSpPr>
            <a:spLocks noChangeShapeType="1"/>
          </p:cNvSpPr>
          <p:nvPr/>
        </p:nvSpPr>
        <p:spPr bwMode="auto">
          <a:xfrm flipH="1">
            <a:off x="10134600" y="4800600"/>
            <a:ext cx="381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099" name="Line 67"/>
          <p:cNvSpPr>
            <a:spLocks noChangeShapeType="1"/>
          </p:cNvSpPr>
          <p:nvPr/>
        </p:nvSpPr>
        <p:spPr bwMode="auto">
          <a:xfrm>
            <a:off x="10134600" y="3200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0100" name="Line 68"/>
          <p:cNvSpPr>
            <a:spLocks noChangeShapeType="1"/>
          </p:cNvSpPr>
          <p:nvPr/>
        </p:nvSpPr>
        <p:spPr bwMode="auto">
          <a:xfrm flipH="1" flipV="1">
            <a:off x="7391400" y="5791200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5394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data mining?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mining is the process of discovering </a:t>
            </a:r>
            <a:endParaRPr lang="en-US" sz="3200" dirty="0" smtClean="0"/>
          </a:p>
          <a:p>
            <a:pPr lvl="1"/>
            <a:r>
              <a:rPr lang="en-US" sz="3200" dirty="0" smtClean="0"/>
              <a:t>patterns</a:t>
            </a:r>
            <a:r>
              <a:rPr lang="en-US" sz="3200" dirty="0"/>
              <a:t>, </a:t>
            </a:r>
            <a:endParaRPr lang="en-US" sz="3200" dirty="0" smtClean="0"/>
          </a:p>
          <a:p>
            <a:pPr lvl="1"/>
            <a:r>
              <a:rPr lang="en-US" sz="3200" dirty="0" smtClean="0"/>
              <a:t>anomalies</a:t>
            </a:r>
            <a:r>
              <a:rPr lang="en-US" sz="3200" dirty="0"/>
              <a:t>, and </a:t>
            </a:r>
            <a:endParaRPr lang="en-US" sz="3200" dirty="0" smtClean="0"/>
          </a:p>
          <a:p>
            <a:pPr lvl="1"/>
            <a:r>
              <a:rPr lang="en-US" sz="3200" dirty="0" smtClean="0"/>
              <a:t>useful </a:t>
            </a:r>
            <a:r>
              <a:rPr lang="en-US" sz="3200" dirty="0"/>
              <a:t>insights from large datasets </a:t>
            </a:r>
            <a:endParaRPr lang="en-US" sz="3200" dirty="0" smtClean="0"/>
          </a:p>
          <a:p>
            <a:r>
              <a:rPr lang="en-US" sz="3200" dirty="0" smtClean="0"/>
              <a:t>using </a:t>
            </a:r>
            <a:r>
              <a:rPr lang="en-US" sz="3200" dirty="0"/>
              <a:t>techniques from </a:t>
            </a:r>
            <a:endParaRPr lang="en-US" sz="3200" dirty="0" smtClean="0"/>
          </a:p>
          <a:p>
            <a:pPr lvl="1"/>
            <a:r>
              <a:rPr lang="en-US" sz="3200" dirty="0" smtClean="0"/>
              <a:t>machine </a:t>
            </a:r>
            <a:r>
              <a:rPr lang="en-US" sz="3200" dirty="0"/>
              <a:t>learning, </a:t>
            </a:r>
            <a:endParaRPr lang="en-US" sz="3200" dirty="0" smtClean="0"/>
          </a:p>
          <a:p>
            <a:pPr lvl="1"/>
            <a:r>
              <a:rPr lang="en-US" sz="3200" dirty="0" smtClean="0"/>
              <a:t>statistics</a:t>
            </a:r>
            <a:r>
              <a:rPr lang="en-US" sz="3200" dirty="0"/>
              <a:t>, and </a:t>
            </a:r>
            <a:endParaRPr lang="en-US" sz="3200" dirty="0" smtClean="0"/>
          </a:p>
          <a:p>
            <a:pPr lvl="1"/>
            <a:r>
              <a:rPr lang="en-US" sz="3200" dirty="0" smtClean="0"/>
              <a:t>database </a:t>
            </a:r>
            <a:r>
              <a:rPr lang="en-US" sz="3200" dirty="0"/>
              <a:t>systems, 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data mining?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Transforming </a:t>
            </a:r>
            <a:r>
              <a:rPr lang="en-US" sz="3200" dirty="0"/>
              <a:t>raw data into actionable information for better </a:t>
            </a:r>
            <a:endParaRPr lang="en-US" sz="3200" dirty="0" smtClean="0"/>
          </a:p>
          <a:p>
            <a:pPr lvl="1"/>
            <a:r>
              <a:rPr lang="en-US" sz="3200" dirty="0" smtClean="0"/>
              <a:t>decision-making</a:t>
            </a:r>
            <a:r>
              <a:rPr lang="en-US" sz="3200" dirty="0"/>
              <a:t>, </a:t>
            </a:r>
            <a:endParaRPr lang="en-US" sz="3200" dirty="0" smtClean="0"/>
          </a:p>
          <a:p>
            <a:pPr lvl="1"/>
            <a:r>
              <a:rPr lang="en-US" sz="3200" dirty="0" smtClean="0"/>
              <a:t>prediction</a:t>
            </a:r>
            <a:r>
              <a:rPr lang="en-US" sz="3200" dirty="0"/>
              <a:t>, and </a:t>
            </a:r>
            <a:endParaRPr lang="en-US" sz="3200" dirty="0" smtClean="0"/>
          </a:p>
          <a:p>
            <a:pPr lvl="1"/>
            <a:r>
              <a:rPr lang="en-US" sz="3200" dirty="0" smtClean="0"/>
              <a:t>strategic </a:t>
            </a:r>
            <a:r>
              <a:rPr lang="en-US" sz="3200" dirty="0"/>
              <a:t>advantage in business and science. </a:t>
            </a:r>
            <a:endParaRPr lang="en-US" sz="3200" dirty="0" smtClean="0"/>
          </a:p>
          <a:p>
            <a:r>
              <a:rPr lang="en-US" sz="3200" dirty="0" smtClean="0"/>
              <a:t>It's </a:t>
            </a:r>
            <a:r>
              <a:rPr lang="en-US" sz="3200" dirty="0"/>
              <a:t>like finding valuable "gold" (insights) within massive amounts of "ore" (data) to understand trends, customer behavior, or risks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252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A0A0A"/>
                </a:solidFill>
                <a:latin typeface="Google Sans"/>
              </a:rPr>
              <a:t>How it </a:t>
            </a:r>
            <a:r>
              <a:rPr lang="en-US" altLang="en-US" b="1" dirty="0" smtClean="0">
                <a:solidFill>
                  <a:srgbClr val="0A0A0A"/>
                </a:solidFill>
                <a:latin typeface="Google Sans"/>
              </a:rPr>
              <a:t>works?</a:t>
            </a: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9762" y="1350598"/>
            <a:ext cx="10624038" cy="5301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 Collection &amp; Preparation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Gathering data from various sources, cleaning it, and loading it into a warehouse.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Pattern Discovery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Applying algorithms (often AI/ML) to find relationships, trends, and correlations.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Evaluation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Assessing the discovered patterns to ensure they are meaningful and valid.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Action/Deployment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</a:p>
          <a:p>
            <a:pPr marL="457200" lvl="1" indent="0">
              <a:lnSpc>
                <a:spcPct val="100000"/>
              </a:lnSpc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Using the insights for tasks like predicting customer needs, detecting fraud, or optimizing operations.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61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Techniques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2016" y="1619103"/>
            <a:ext cx="11330353" cy="40702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2"/>
              </a:rPr>
              <a:t>Classification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Categorizing data (e.g., spam vs. not spam).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3"/>
              </a:rPr>
              <a:t>Clustering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Grouping similar data points together.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4"/>
              </a:rPr>
              <a:t>Association Rule Mining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Finding items that often occur together (like items in a shopping cart).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5"/>
              </a:rPr>
              <a:t>Regression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Predicting numerical values. 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9422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World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637273"/>
            <a:ext cx="11204331" cy="27724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Retail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Personalized product recommendations (Amazon).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Finance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Detecting fraudulent credit card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Healthcare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Identifying patients at high risk for certain diseases.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Marketing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Targeting specific customer segments for campaigns. 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6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4590"/>
          </a:xfrm>
        </p:spPr>
        <p:txBody>
          <a:bodyPr/>
          <a:lstStyle/>
          <a:p>
            <a:r>
              <a:rPr lang="en-US" dirty="0" smtClean="0"/>
              <a:t>Association Rules minin</a:t>
            </a:r>
            <a:r>
              <a:rPr lang="en-US" dirty="0"/>
              <a:t>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80391"/>
            <a:ext cx="11145716" cy="55567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For the given dataset, apply the </a:t>
            </a:r>
            <a:r>
              <a:rPr lang="en-US" dirty="0" err="1"/>
              <a:t>Apriori</a:t>
            </a:r>
            <a:r>
              <a:rPr lang="en-US" dirty="0"/>
              <a:t> algorithm to discover strong association rules among image tags. Assume that </a:t>
            </a:r>
            <a:r>
              <a:rPr lang="en-US" dirty="0" err="1">
                <a:solidFill>
                  <a:srgbClr val="FF0000"/>
                </a:solidFill>
              </a:rPr>
              <a:t>min_support</a:t>
            </a:r>
            <a:r>
              <a:rPr lang="en-US" dirty="0">
                <a:solidFill>
                  <a:srgbClr val="FF0000"/>
                </a:solidFill>
              </a:rPr>
              <a:t>=40%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min_confidence</a:t>
            </a:r>
            <a:r>
              <a:rPr lang="en-US" dirty="0">
                <a:solidFill>
                  <a:srgbClr val="FF0000"/>
                </a:solidFill>
              </a:rPr>
              <a:t>=70%</a:t>
            </a:r>
            <a:r>
              <a:rPr lang="en-US" dirty="0"/>
              <a:t>. Generate association rules from the frequent </a:t>
            </a:r>
            <a:r>
              <a:rPr lang="en-US" dirty="0" err="1"/>
              <a:t>itemsets</a:t>
            </a:r>
            <a:r>
              <a:rPr lang="en-US" dirty="0"/>
              <a:t>. Calculate the confidence of each rule and identify all the strong association rules. </a:t>
            </a:r>
            <a:endParaRPr lang="en-US" dirty="0" smtClean="0"/>
          </a:p>
          <a:p>
            <a:r>
              <a:rPr lang="en-US" dirty="0" smtClean="0"/>
              <a:t>Dataset </a:t>
            </a:r>
            <a:r>
              <a:rPr lang="en-US" dirty="0"/>
              <a:t>contains 5 transaction.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each transaction few products were bought. </a:t>
            </a:r>
            <a:endParaRPr lang="en-US" dirty="0" smtClean="0"/>
          </a:p>
          <a:p>
            <a:r>
              <a:rPr lang="en-US" dirty="0" smtClean="0"/>
              <a:t>1 </a:t>
            </a:r>
            <a:r>
              <a:rPr lang="en-US" dirty="0"/>
              <a:t>-- {Bread, Butter, Milk} </a:t>
            </a:r>
            <a:endParaRPr lang="en-US" dirty="0" smtClean="0"/>
          </a:p>
          <a:p>
            <a:r>
              <a:rPr lang="en-US" dirty="0" smtClean="0"/>
              <a:t>2 </a:t>
            </a:r>
            <a:r>
              <a:rPr lang="en-US" dirty="0"/>
              <a:t>-- {Bread, Butter} </a:t>
            </a:r>
            <a:endParaRPr lang="en-US" dirty="0" smtClean="0"/>
          </a:p>
          <a:p>
            <a:r>
              <a:rPr lang="en-US" dirty="0" smtClean="0"/>
              <a:t>3 </a:t>
            </a:r>
            <a:r>
              <a:rPr lang="en-US" dirty="0"/>
              <a:t>-- {Beer, Cookies, Diapers} </a:t>
            </a:r>
            <a:endParaRPr lang="en-US" dirty="0" smtClean="0"/>
          </a:p>
          <a:p>
            <a:r>
              <a:rPr lang="en-US" dirty="0" smtClean="0"/>
              <a:t>4 </a:t>
            </a:r>
            <a:r>
              <a:rPr lang="en-US" dirty="0"/>
              <a:t>-- {Milk, Diapers, Bread, Butter} </a:t>
            </a:r>
            <a:endParaRPr lang="en-US" dirty="0" smtClean="0"/>
          </a:p>
          <a:p>
            <a:r>
              <a:rPr lang="en-US" dirty="0" smtClean="0"/>
              <a:t>5 </a:t>
            </a:r>
            <a:r>
              <a:rPr lang="en-US" dirty="0"/>
              <a:t>-- {Beer, Diapers}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704723" cy="43513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86" y="3249988"/>
            <a:ext cx="5197290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8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704723" cy="43513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135" y="1880340"/>
            <a:ext cx="3718882" cy="23014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752" y="4346964"/>
            <a:ext cx="3101609" cy="1844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846" y="2799464"/>
            <a:ext cx="3093988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8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33</a:t>
            </a:fld>
            <a:endParaRPr lang="en-US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704723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318" y="678436"/>
            <a:ext cx="2072820" cy="8763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454" y="1516214"/>
            <a:ext cx="2911092" cy="38255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016" y="3363544"/>
            <a:ext cx="3086367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4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196" y="317970"/>
            <a:ext cx="3543607" cy="419136"/>
          </a:xfrm>
          <a:prstGeom prst="rect">
            <a:avLst/>
          </a:prstGeom>
        </p:spPr>
      </p:pic>
      <p:pic>
        <p:nvPicPr>
          <p:cNvPr id="5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77" y="1154357"/>
            <a:ext cx="3704723" cy="43513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797" y="1154357"/>
            <a:ext cx="4740051" cy="329212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820180"/>
              </p:ext>
            </p:extLst>
          </p:nvPr>
        </p:nvGraphicFramePr>
        <p:xfrm>
          <a:off x="4282830" y="4641033"/>
          <a:ext cx="4632570" cy="731520"/>
        </p:xfrm>
        <a:graphic>
          <a:graphicData uri="http://schemas.openxmlformats.org/drawingml/2006/table">
            <a:tbl>
              <a:tblPr firstRow="1" bandRow="1"/>
              <a:tblGrid>
                <a:gridCol w="2316285">
                  <a:extLst>
                    <a:ext uri="{9D8B030D-6E8A-4147-A177-3AD203B41FA5}">
                      <a16:colId xmlns:a16="http://schemas.microsoft.com/office/drawing/2014/main" val="844746282"/>
                    </a:ext>
                  </a:extLst>
                </a:gridCol>
                <a:gridCol w="2316285">
                  <a:extLst>
                    <a:ext uri="{9D8B030D-6E8A-4147-A177-3AD203B41FA5}">
                      <a16:colId xmlns:a16="http://schemas.microsoft.com/office/drawing/2014/main" val="2289195485"/>
                    </a:ext>
                  </a:extLst>
                </a:gridCol>
              </a:tblGrid>
              <a:tr h="356741">
                <a:tc>
                  <a:txBody>
                    <a:bodyPr/>
                    <a:lstStyle/>
                    <a:p>
                      <a:r>
                        <a:rPr lang="en-US" dirty="0" smtClean="0"/>
                        <a:t>3-Frequent </a:t>
                      </a:r>
                      <a:r>
                        <a:rPr lang="en-US" dirty="0" err="1" smtClean="0"/>
                        <a:t>Itemset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Support_count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84341"/>
                  </a:ext>
                </a:extLst>
              </a:tr>
              <a:tr h="356741">
                <a:tc>
                  <a:txBody>
                    <a:bodyPr/>
                    <a:lstStyle/>
                    <a:p>
                      <a:r>
                        <a:rPr lang="en-US" dirty="0" smtClean="0"/>
                        <a:t>Bread, Butter, Milk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2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08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35</a:t>
            </a:fld>
            <a:endParaRPr lang="en-US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7" y="2253396"/>
            <a:ext cx="3704723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9354"/>
            <a:ext cx="3093988" cy="2133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11" y="2545859"/>
            <a:ext cx="3086367" cy="229381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670764"/>
              </p:ext>
            </p:extLst>
          </p:nvPr>
        </p:nvGraphicFramePr>
        <p:xfrm>
          <a:off x="3772875" y="5265288"/>
          <a:ext cx="4614018" cy="741680"/>
        </p:xfrm>
        <a:graphic>
          <a:graphicData uri="http://schemas.openxmlformats.org/drawingml/2006/table">
            <a:tbl>
              <a:tblPr firstRow="1" bandRow="1"/>
              <a:tblGrid>
                <a:gridCol w="2307009">
                  <a:extLst>
                    <a:ext uri="{9D8B030D-6E8A-4147-A177-3AD203B41FA5}">
                      <a16:colId xmlns:a16="http://schemas.microsoft.com/office/drawing/2014/main" val="844746282"/>
                    </a:ext>
                  </a:extLst>
                </a:gridCol>
                <a:gridCol w="2307009">
                  <a:extLst>
                    <a:ext uri="{9D8B030D-6E8A-4147-A177-3AD203B41FA5}">
                      <a16:colId xmlns:a16="http://schemas.microsoft.com/office/drawing/2014/main" val="22891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3-Frequent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Itemset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Support_count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8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Bread, Butter, Milk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2856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269" y="339641"/>
            <a:ext cx="4282811" cy="8154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583" y="1591074"/>
            <a:ext cx="5105842" cy="9678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225" y="2815537"/>
            <a:ext cx="4541914" cy="122692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3847" y="4006317"/>
            <a:ext cx="3391194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9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36</a:t>
            </a:fld>
            <a:endParaRPr lang="en-US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7" y="2253396"/>
            <a:ext cx="3704723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9354"/>
            <a:ext cx="3093988" cy="2133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11" y="2545859"/>
            <a:ext cx="3086367" cy="229381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92672"/>
              </p:ext>
            </p:extLst>
          </p:nvPr>
        </p:nvGraphicFramePr>
        <p:xfrm>
          <a:off x="3772875" y="5265288"/>
          <a:ext cx="3751394" cy="1010920"/>
        </p:xfrm>
        <a:graphic>
          <a:graphicData uri="http://schemas.openxmlformats.org/drawingml/2006/table">
            <a:tbl>
              <a:tblPr firstRow="1" bandRow="1"/>
              <a:tblGrid>
                <a:gridCol w="1875697">
                  <a:extLst>
                    <a:ext uri="{9D8B030D-6E8A-4147-A177-3AD203B41FA5}">
                      <a16:colId xmlns:a16="http://schemas.microsoft.com/office/drawing/2014/main" val="844746282"/>
                    </a:ext>
                  </a:extLst>
                </a:gridCol>
                <a:gridCol w="1875697">
                  <a:extLst>
                    <a:ext uri="{9D8B030D-6E8A-4147-A177-3AD203B41FA5}">
                      <a16:colId xmlns:a16="http://schemas.microsoft.com/office/drawing/2014/main" val="22891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3-Itemset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Support_count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8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Bread, Butter, Milk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2856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269" y="339641"/>
            <a:ext cx="4282811" cy="8154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583" y="1591074"/>
            <a:ext cx="5105842" cy="9678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1604" y="2903174"/>
            <a:ext cx="3787468" cy="10516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812" y="4039143"/>
            <a:ext cx="3581710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2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AB06F-256E-4902-8825-8C05B6955637}" type="slidenum">
              <a:rPr lang="en-US" smtClean="0"/>
              <a:t>37</a:t>
            </a:fld>
            <a:endParaRPr lang="en-US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7" y="2253396"/>
            <a:ext cx="3704723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9354"/>
            <a:ext cx="3093988" cy="2133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11" y="2545859"/>
            <a:ext cx="3086367" cy="229381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792672"/>
              </p:ext>
            </p:extLst>
          </p:nvPr>
        </p:nvGraphicFramePr>
        <p:xfrm>
          <a:off x="3772875" y="5265288"/>
          <a:ext cx="3751394" cy="1010920"/>
        </p:xfrm>
        <a:graphic>
          <a:graphicData uri="http://schemas.openxmlformats.org/drawingml/2006/table">
            <a:tbl>
              <a:tblPr firstRow="1" bandRow="1"/>
              <a:tblGrid>
                <a:gridCol w="1875697">
                  <a:extLst>
                    <a:ext uri="{9D8B030D-6E8A-4147-A177-3AD203B41FA5}">
                      <a16:colId xmlns:a16="http://schemas.microsoft.com/office/drawing/2014/main" val="844746282"/>
                    </a:ext>
                  </a:extLst>
                </a:gridCol>
                <a:gridCol w="1875697">
                  <a:extLst>
                    <a:ext uri="{9D8B030D-6E8A-4147-A177-3AD203B41FA5}">
                      <a16:colId xmlns:a16="http://schemas.microsoft.com/office/drawing/2014/main" val="22891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3-Itemset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Support_count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68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Bread, Butter, Milk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2856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269" y="339641"/>
            <a:ext cx="4282811" cy="8154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583" y="1591074"/>
            <a:ext cx="5105842" cy="96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04380" y="2831123"/>
            <a:ext cx="41026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For {Bread, Butter, Milk}</a:t>
            </a:r>
          </a:p>
          <a:p>
            <a:r>
              <a:rPr lang="en-US" dirty="0"/>
              <a:t> </a:t>
            </a:r>
            <a:r>
              <a:rPr lang="en-US" dirty="0" smtClean="0"/>
              <a:t>   Bread, Butter-&gt;Milk = 2/3 = 67%</a:t>
            </a:r>
          </a:p>
          <a:p>
            <a:r>
              <a:rPr lang="en-US" dirty="0"/>
              <a:t> </a:t>
            </a:r>
            <a:r>
              <a:rPr lang="en-US" dirty="0" smtClean="0"/>
              <a:t>   Bread, Milk -&gt; Butter = 2/2 =100%</a:t>
            </a:r>
          </a:p>
          <a:p>
            <a:r>
              <a:rPr lang="en-US" dirty="0"/>
              <a:t> </a:t>
            </a:r>
            <a:r>
              <a:rPr lang="en-US" dirty="0" smtClean="0"/>
              <a:t>   Milk, Butter-&gt;Bread = 2/2 = 100%</a:t>
            </a:r>
          </a:p>
          <a:p>
            <a:r>
              <a:rPr lang="en-US" dirty="0"/>
              <a:t> </a:t>
            </a:r>
            <a:r>
              <a:rPr lang="en-US" dirty="0" smtClean="0"/>
              <a:t>   Bread-&gt; Butter, Milk = 2/3 = 67%</a:t>
            </a:r>
          </a:p>
          <a:p>
            <a:r>
              <a:rPr lang="en-US" dirty="0"/>
              <a:t> </a:t>
            </a:r>
            <a:r>
              <a:rPr lang="en-US" dirty="0" smtClean="0"/>
              <a:t>   Butter -&gt; Bread, Milk = 2/3 = 67%</a:t>
            </a:r>
          </a:p>
          <a:p>
            <a:r>
              <a:rPr lang="en-US" dirty="0"/>
              <a:t> </a:t>
            </a:r>
            <a:r>
              <a:rPr lang="en-US" dirty="0" smtClean="0"/>
              <a:t>    Milk-&gt; Bread, Butter = 2/2 = 100%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66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1389</Words>
  <Application>Microsoft Office PowerPoint</Application>
  <PresentationFormat>Widescreen</PresentationFormat>
  <Paragraphs>321</Paragraphs>
  <Slides>37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Document</vt:lpstr>
      <vt:lpstr>Decision Support System</vt:lpstr>
      <vt:lpstr>What is DSS?</vt:lpstr>
      <vt:lpstr>What is DSS?</vt:lpstr>
      <vt:lpstr>PowerPoint Presentation</vt:lpstr>
      <vt:lpstr>PowerPoint Presentation</vt:lpstr>
      <vt:lpstr>What is OLAP?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warehouse?</vt:lpstr>
      <vt:lpstr>Data Warehouse—Subject-Oriented</vt:lpstr>
      <vt:lpstr>Data Warehouse—Integrated</vt:lpstr>
      <vt:lpstr>Data Warehouse—Time Variant</vt:lpstr>
      <vt:lpstr>Data Warehouse—Non-Volatile</vt:lpstr>
      <vt:lpstr>Data Warehouse vs. Heterogeneous DBMS</vt:lpstr>
      <vt:lpstr>Data Warehouse vs. Operational DBMS</vt:lpstr>
      <vt:lpstr>OLTP vs. OLAP</vt:lpstr>
      <vt:lpstr>Why Separate Data Warehouse?</vt:lpstr>
      <vt:lpstr>Conceptual Modeling of Data Warehouses</vt:lpstr>
      <vt:lpstr>Example of Star Schema</vt:lpstr>
      <vt:lpstr>Example of Snowflake Schema</vt:lpstr>
      <vt:lpstr>Example of Fact Constellation</vt:lpstr>
      <vt:lpstr>What is data mining?</vt:lpstr>
      <vt:lpstr>What is data mining?</vt:lpstr>
      <vt:lpstr>How it works?</vt:lpstr>
      <vt:lpstr>Key Techniques</vt:lpstr>
      <vt:lpstr>Real World Example</vt:lpstr>
      <vt:lpstr>Association Rules mining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</dc:title>
  <dc:creator>HP</dc:creator>
  <cp:lastModifiedBy>HP</cp:lastModifiedBy>
  <cp:revision>27</cp:revision>
  <dcterms:created xsi:type="dcterms:W3CDTF">2025-12-09T01:57:38Z</dcterms:created>
  <dcterms:modified xsi:type="dcterms:W3CDTF">2025-12-29T04:39:22Z</dcterms:modified>
</cp:coreProperties>
</file>