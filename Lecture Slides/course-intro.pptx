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98320-35FE-4C3B-905C-295212C3400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99CBB-3C17-45A6-A728-BB46389CC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05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98320-35FE-4C3B-905C-295212C3400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99CBB-3C17-45A6-A728-BB46389CC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67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98320-35FE-4C3B-905C-295212C3400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99CBB-3C17-45A6-A728-BB46389CC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925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98320-35FE-4C3B-905C-295212C3400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99CBB-3C17-45A6-A728-BB46389CC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49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98320-35FE-4C3B-905C-295212C3400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99CBB-3C17-45A6-A728-BB46389CC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176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98320-35FE-4C3B-905C-295212C3400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99CBB-3C17-45A6-A728-BB46389CC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611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98320-35FE-4C3B-905C-295212C3400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99CBB-3C17-45A6-A728-BB46389CC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164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98320-35FE-4C3B-905C-295212C3400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99CBB-3C17-45A6-A728-BB46389CC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510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98320-35FE-4C3B-905C-295212C3400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99CBB-3C17-45A6-A728-BB46389CC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312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98320-35FE-4C3B-905C-295212C3400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99CBB-3C17-45A6-A728-BB46389CC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321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98320-35FE-4C3B-905C-295212C3400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99CBB-3C17-45A6-A728-BB46389CC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085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598320-35FE-4C3B-905C-295212C3400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99CBB-3C17-45A6-A728-BB46389CC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071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Database Management Systems -II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Md. </a:t>
            </a:r>
            <a:r>
              <a:rPr lang="en-US" dirty="0" err="1" smtClean="0"/>
              <a:t>Rezaul</a:t>
            </a:r>
            <a:r>
              <a:rPr lang="en-US" dirty="0" smtClean="0"/>
              <a:t> Karim, Ph.D.</a:t>
            </a:r>
          </a:p>
          <a:p>
            <a:r>
              <a:rPr lang="en-US" dirty="0" smtClean="0"/>
              <a:t>CSEDU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501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DBMS Implementation Technology: (7)</a:t>
            </a:r>
          </a:p>
          <a:p>
            <a:pPr lvl="1"/>
            <a:r>
              <a:rPr lang="en-US" b="1" dirty="0" smtClean="0"/>
              <a:t>Storage and File Structure</a:t>
            </a:r>
            <a:r>
              <a:rPr lang="en-US" dirty="0" smtClean="0"/>
              <a:t>: different storage types, RAID and RAID levels, file and record organization, data dictionary storage</a:t>
            </a:r>
          </a:p>
          <a:p>
            <a:pPr lvl="1"/>
            <a:r>
              <a:rPr lang="en-US" b="1" dirty="0" smtClean="0"/>
              <a:t>Indexing and Hashing</a:t>
            </a:r>
            <a:r>
              <a:rPr lang="en-US" dirty="0" smtClean="0"/>
              <a:t>: basic concepts, ordered indices, B+-tree index files, B-tree index files, static &amp; dynamic hashing, comparison of ordered indexing &amp; hashing</a:t>
            </a:r>
          </a:p>
          <a:p>
            <a:r>
              <a:rPr lang="en-US" dirty="0" smtClean="0"/>
              <a:t>Information Retrieval (5)</a:t>
            </a:r>
          </a:p>
          <a:p>
            <a:pPr lvl="1"/>
            <a:r>
              <a:rPr lang="en-US" b="1" dirty="0" smtClean="0"/>
              <a:t>Query Processing</a:t>
            </a:r>
            <a:r>
              <a:rPr lang="en-US" dirty="0" smtClean="0"/>
              <a:t>: overview, measures of query costs, selection operation, sorting, join operation, other operations and evaluation of expressions. </a:t>
            </a:r>
          </a:p>
          <a:p>
            <a:pPr lvl="1"/>
            <a:r>
              <a:rPr lang="en-US" b="1" dirty="0" smtClean="0"/>
              <a:t>Query Optimization</a:t>
            </a:r>
            <a:r>
              <a:rPr lang="en-US" dirty="0" smtClean="0"/>
              <a:t>: introduction, transformation of relational expressions, evaluation plan, cost-based optimization and heuristic optimization, optimizing nested sub-queries, materialized view and view maintenance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424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Introduction of Modern Databases: (3)</a:t>
            </a:r>
          </a:p>
          <a:p>
            <a:pPr lvl="1"/>
            <a:r>
              <a:rPr lang="en-US" b="1" dirty="0" smtClean="0"/>
              <a:t>Object-relational and Object-oriented Databases</a:t>
            </a:r>
            <a:r>
              <a:rPr lang="en-US" dirty="0" smtClean="0"/>
              <a:t>: complex data types - structured, array and multiset types, inheritance, object identity and reference types, object-relational query, implementation, persistent programming languages, Introduction to other databases: temporal, spatial, multimedia and mobile databases.</a:t>
            </a:r>
          </a:p>
          <a:p>
            <a:r>
              <a:rPr lang="en-US" dirty="0" smtClean="0"/>
              <a:t>Data Processing and visualization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(3)</a:t>
            </a:r>
            <a:endParaRPr lang="en-US" dirty="0" smtClean="0"/>
          </a:p>
          <a:p>
            <a:pPr lvl="1"/>
            <a:r>
              <a:rPr lang="en-US" b="1" dirty="0" smtClean="0"/>
              <a:t>Data Object and Attribute Types</a:t>
            </a:r>
            <a:r>
              <a:rPr lang="en-US" dirty="0" smtClean="0"/>
              <a:t>: nominal, binary, ordinal, numeric, basic statistical description of data, measuring data similarity and dissimilarity</a:t>
            </a:r>
          </a:p>
          <a:p>
            <a:pPr lvl="1"/>
            <a:r>
              <a:rPr lang="en-US" b="1" dirty="0" smtClean="0"/>
              <a:t>Data Preprocessing</a:t>
            </a:r>
            <a:r>
              <a:rPr lang="en-US" dirty="0" smtClean="0"/>
              <a:t>: data cleaning, integration and reduction, Data transformation and data discretization </a:t>
            </a:r>
          </a:p>
          <a:p>
            <a:pPr lvl="1"/>
            <a:r>
              <a:rPr lang="en-US" b="1" dirty="0" smtClean="0"/>
              <a:t>Data Visualization</a:t>
            </a:r>
            <a:r>
              <a:rPr lang="en-US" dirty="0" smtClean="0"/>
              <a:t>: Pixel-oriented, geometric projection, icon based, hierarchical and visualizing complex data and relations.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764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Database System Architecture: (7)</a:t>
            </a:r>
          </a:p>
          <a:p>
            <a:pPr lvl="1"/>
            <a:r>
              <a:rPr lang="en-US" b="1" dirty="0" smtClean="0"/>
              <a:t>Centralized and client-server architecture</a:t>
            </a:r>
            <a:r>
              <a:rPr lang="en-US" dirty="0" smtClean="0"/>
              <a:t>;</a:t>
            </a:r>
          </a:p>
          <a:p>
            <a:pPr lvl="1"/>
            <a:r>
              <a:rPr lang="en-US" b="1" dirty="0" smtClean="0"/>
              <a:t>Parallel Databases</a:t>
            </a:r>
            <a:r>
              <a:rPr lang="en-US" dirty="0" smtClean="0"/>
              <a:t>: architecture, speedup and </a:t>
            </a:r>
            <a:r>
              <a:rPr lang="en-US" dirty="0" err="1" smtClean="0"/>
              <a:t>scaleup</a:t>
            </a:r>
            <a:r>
              <a:rPr lang="en-US" dirty="0" smtClean="0"/>
              <a:t>, interconnection networks, I/O parallelism, </a:t>
            </a:r>
            <a:r>
              <a:rPr lang="en-US" dirty="0" err="1" smtClean="0"/>
              <a:t>interquery</a:t>
            </a:r>
            <a:r>
              <a:rPr lang="en-US" dirty="0" smtClean="0"/>
              <a:t> and </a:t>
            </a:r>
            <a:r>
              <a:rPr lang="en-US" dirty="0" err="1" smtClean="0"/>
              <a:t>intraquery</a:t>
            </a:r>
            <a:r>
              <a:rPr lang="en-US" dirty="0" smtClean="0"/>
              <a:t> parallelism, cost of parallel processing, design of parallel systems. </a:t>
            </a:r>
          </a:p>
          <a:p>
            <a:pPr lvl="1"/>
            <a:r>
              <a:rPr lang="en-US" b="1" dirty="0" smtClean="0"/>
              <a:t>Distributed Databases</a:t>
            </a:r>
            <a:r>
              <a:rPr lang="en-US" dirty="0" smtClean="0"/>
              <a:t>: homogeneous and heterogeneous, distributed data storage: data replication and fragmentation, failure handling, distributed query processing. </a:t>
            </a:r>
          </a:p>
          <a:p>
            <a:r>
              <a:rPr lang="en-US" dirty="0" smtClean="0"/>
              <a:t>Introduction to Data Mining and Machine Learning: (5)</a:t>
            </a:r>
          </a:p>
          <a:p>
            <a:pPr lvl="1"/>
            <a:r>
              <a:rPr lang="en-US" dirty="0" smtClean="0"/>
              <a:t>Decision support systems, OLAP implementation</a:t>
            </a:r>
          </a:p>
          <a:p>
            <a:pPr lvl="1"/>
            <a:r>
              <a:rPr lang="en-US" dirty="0" smtClean="0"/>
              <a:t>Data warehousing- components, schemas</a:t>
            </a:r>
          </a:p>
          <a:p>
            <a:pPr lvl="1"/>
            <a:r>
              <a:rPr lang="en-US" dirty="0" smtClean="0"/>
              <a:t>Data mining concept, applications – association rules, classification, clustering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516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 Books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 smtClean="0"/>
              <a:t>Database System Concepts Authors: Abraham </a:t>
            </a:r>
            <a:r>
              <a:rPr lang="en-US" dirty="0" err="1" smtClean="0"/>
              <a:t>Silberschatz</a:t>
            </a:r>
            <a:r>
              <a:rPr lang="en-US" dirty="0" smtClean="0"/>
              <a:t>, Henry F. </a:t>
            </a:r>
            <a:r>
              <a:rPr lang="en-US" dirty="0" err="1" smtClean="0"/>
              <a:t>Korth</a:t>
            </a:r>
            <a:r>
              <a:rPr lang="en-US" dirty="0" smtClean="0"/>
              <a:t>, S. </a:t>
            </a:r>
            <a:r>
              <a:rPr lang="en-US" dirty="0" err="1" smtClean="0"/>
              <a:t>Sudarshan</a:t>
            </a:r>
            <a:r>
              <a:rPr lang="en-US" dirty="0" smtClean="0"/>
              <a:t> Edition: 7th Publication Year: 2019 Publisher: McGraw-Hill ISBN:978-0-07-802215-9 Web: http://www.db-book.com </a:t>
            </a:r>
          </a:p>
          <a:p>
            <a:pPr marL="514350" indent="-514350">
              <a:buAutoNum type="arabicPeriod"/>
            </a:pPr>
            <a:r>
              <a:rPr lang="en-US" dirty="0" smtClean="0"/>
              <a:t> Data Mining: Concepts and Techniques Authors: </a:t>
            </a:r>
            <a:r>
              <a:rPr lang="en-US" dirty="0" err="1" smtClean="0"/>
              <a:t>Jiawei</a:t>
            </a:r>
            <a:r>
              <a:rPr lang="en-US" dirty="0" smtClean="0"/>
              <a:t> Han, </a:t>
            </a:r>
            <a:r>
              <a:rPr lang="en-US" dirty="0" err="1" smtClean="0"/>
              <a:t>Micheline</a:t>
            </a:r>
            <a:r>
              <a:rPr lang="en-US" dirty="0" smtClean="0"/>
              <a:t> Camber, Jian Pie Edition: 4th Publication Year: 2023 Publisher: Morgan Kaufmann Publishers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16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Marks Distribution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Attendance 5%</a:t>
            </a:r>
          </a:p>
          <a:p>
            <a:r>
              <a:rPr lang="en-US" dirty="0" smtClean="0"/>
              <a:t>Assignment 5%</a:t>
            </a:r>
          </a:p>
          <a:p>
            <a:r>
              <a:rPr lang="en-US" dirty="0" err="1" smtClean="0"/>
              <a:t>Incourse</a:t>
            </a:r>
            <a:r>
              <a:rPr lang="en-US" dirty="0" smtClean="0"/>
              <a:t> 20%</a:t>
            </a:r>
          </a:p>
          <a:p>
            <a:r>
              <a:rPr lang="en-US" dirty="0" smtClean="0"/>
              <a:t>Final 70%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315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9554" y="1699480"/>
            <a:ext cx="2237077" cy="3338512"/>
          </a:xfrm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44362" y="1799492"/>
            <a:ext cx="1932095" cy="3648808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16416" y="1955434"/>
            <a:ext cx="2956440" cy="3082558"/>
          </a:xfrm>
          <a:prstGeom prst="rect">
            <a:avLst/>
          </a:prstGeom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756432" y="2214653"/>
            <a:ext cx="2488929" cy="2853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614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325" y="1690688"/>
            <a:ext cx="3170195" cy="1844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159" y="1690688"/>
            <a:ext cx="6085434" cy="287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841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434</Words>
  <Application>Microsoft Office PowerPoint</Application>
  <PresentationFormat>Widescreen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Office Theme</vt:lpstr>
      <vt:lpstr>Database Management Systems -II</vt:lpstr>
      <vt:lpstr>Course Outline</vt:lpstr>
      <vt:lpstr>Course Outline</vt:lpstr>
      <vt:lpstr>Course outline</vt:lpstr>
      <vt:lpstr>Text Books</vt:lpstr>
      <vt:lpstr>Marks Distribution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Management Systems -II</dc:title>
  <dc:creator>HP</dc:creator>
  <cp:lastModifiedBy>HP</cp:lastModifiedBy>
  <cp:revision>6</cp:revision>
  <dcterms:created xsi:type="dcterms:W3CDTF">2025-09-01T04:17:31Z</dcterms:created>
  <dcterms:modified xsi:type="dcterms:W3CDTF">2025-09-02T05:32:07Z</dcterms:modified>
</cp:coreProperties>
</file>